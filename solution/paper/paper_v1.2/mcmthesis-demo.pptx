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7772400" cy="10058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2" Type="http://schemas.openxmlformats.org/officeDocument/2006/relationships/viewProps" Target="viewProps.xml"/><Relationship Id="rId31" Type="http://schemas.openxmlformats.org/officeDocument/2006/relationships/tableStyles" Target="tableStyles.xml"/><Relationship Id="rId30" Type="http://schemas.openxmlformats.org/officeDocument/2006/relationships/presProps" Target="presProps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11.xml"/><Relationship Id="rId8" Type="http://schemas.openxmlformats.org/officeDocument/2006/relationships/slide" Target="slide10.xml"/><Relationship Id="rId7" Type="http://schemas.openxmlformats.org/officeDocument/2006/relationships/slide" Target="slide9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0" Type="http://schemas.openxmlformats.org/officeDocument/2006/relationships/slide" Target="slide25.xml"/><Relationship Id="rId2" Type="http://schemas.openxmlformats.org/officeDocument/2006/relationships/slide" Target="slide4.xml"/><Relationship Id="rId19" Type="http://schemas.openxmlformats.org/officeDocument/2006/relationships/slide" Target="slide23.xml"/><Relationship Id="rId18" Type="http://schemas.openxmlformats.org/officeDocument/2006/relationships/slide" Target="slide22.xml"/><Relationship Id="rId17" Type="http://schemas.openxmlformats.org/officeDocument/2006/relationships/slide" Target="slide20.xml"/><Relationship Id="rId16" Type="http://schemas.openxmlformats.org/officeDocument/2006/relationships/slide" Target="slide19.xml"/><Relationship Id="rId15" Type="http://schemas.openxmlformats.org/officeDocument/2006/relationships/slide" Target="slide18.xml"/><Relationship Id="rId14" Type="http://schemas.openxmlformats.org/officeDocument/2006/relationships/slide" Target="slide17.xml"/><Relationship Id="rId13" Type="http://schemas.openxmlformats.org/officeDocument/2006/relationships/slide" Target="slide15.xml"/><Relationship Id="rId12" Type="http://schemas.openxmlformats.org/officeDocument/2006/relationships/slide" Target="slide14.xml"/><Relationship Id="rId11" Type="http://schemas.openxmlformats.org/officeDocument/2006/relationships/slide" Target="slide13.xml"/><Relationship Id="rId10" Type="http://schemas.openxmlformats.org/officeDocument/2006/relationships/slide" Target="slide1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" Target="slide26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" Target="slide26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" Target="slide26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" Target="slide7.xml"/><Relationship Id="rId3" Type="http://schemas.openxmlformats.org/officeDocument/2006/relationships/slide" Target="slide2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" Target="slide2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" Target="slide26.xml"/><Relationship Id="rId6" Type="http://schemas.openxmlformats.org/officeDocument/2006/relationships/slide" Target="slide1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" Target="slide2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6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image" Target="../media/image28.png"/><Relationship Id="rId4" Type="http://schemas.openxmlformats.org/officeDocument/2006/relationships/slide" Target="slide26.xml"/><Relationship Id="rId3" Type="http://schemas.openxmlformats.org/officeDocument/2006/relationships/slide" Target="slide15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6.xml"/><Relationship Id="rId4" Type="http://schemas.openxmlformats.org/officeDocument/2006/relationships/image" Target="../media/image30.png"/><Relationship Id="rId3" Type="http://schemas.openxmlformats.org/officeDocument/2006/relationships/slide" Target="slide16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slide" Target="slide26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6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" Target="slide26.xml"/><Relationship Id="rId3" Type="http://schemas.openxmlformats.org/officeDocument/2006/relationships/image" Target="../media/image46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image" Target="../media/image48.png"/><Relationship Id="rId5" Type="http://schemas.openxmlformats.org/officeDocument/2006/relationships/slide" Target="slide26.xml"/><Relationship Id="rId4" Type="http://schemas.openxmlformats.org/officeDocument/2006/relationships/slide" Target="slide24.xml"/><Relationship Id="rId3" Type="http://schemas.openxmlformats.org/officeDocument/2006/relationships/image" Target="../media/image47.png"/><Relationship Id="rId2" Type="http://schemas.openxmlformats.org/officeDocument/2006/relationships/slide" Target="slide2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slide" Target="slide25.xml"/><Relationship Id="rId29" Type="http://schemas.openxmlformats.org/officeDocument/2006/relationships/image" Target="../media/image73.png"/><Relationship Id="rId28" Type="http://schemas.openxmlformats.org/officeDocument/2006/relationships/image" Target="../media/image72.png"/><Relationship Id="rId27" Type="http://schemas.openxmlformats.org/officeDocument/2006/relationships/image" Target="../media/image71.png"/><Relationship Id="rId26" Type="http://schemas.openxmlformats.org/officeDocument/2006/relationships/image" Target="../media/image70.png"/><Relationship Id="rId25" Type="http://schemas.openxmlformats.org/officeDocument/2006/relationships/image" Target="../media/image69.png"/><Relationship Id="rId24" Type="http://schemas.openxmlformats.org/officeDocument/2006/relationships/image" Target="../media/image68.png"/><Relationship Id="rId23" Type="http://schemas.openxmlformats.org/officeDocument/2006/relationships/image" Target="../media/image67.png"/><Relationship Id="rId22" Type="http://schemas.openxmlformats.org/officeDocument/2006/relationships/image" Target="../media/image66.png"/><Relationship Id="rId21" Type="http://schemas.openxmlformats.org/officeDocument/2006/relationships/image" Target="../media/image65.png"/><Relationship Id="rId20" Type="http://schemas.openxmlformats.org/officeDocument/2006/relationships/image" Target="../media/image64.png"/><Relationship Id="rId2" Type="http://schemas.openxmlformats.org/officeDocument/2006/relationships/slide" Target="slide24.xml"/><Relationship Id="rId19" Type="http://schemas.openxmlformats.org/officeDocument/2006/relationships/image" Target="../media/image63.png"/><Relationship Id="rId18" Type="http://schemas.openxmlformats.org/officeDocument/2006/relationships/image" Target="../media/image62.png"/><Relationship Id="rId17" Type="http://schemas.openxmlformats.org/officeDocument/2006/relationships/image" Target="../media/image61.png"/><Relationship Id="rId16" Type="http://schemas.openxmlformats.org/officeDocument/2006/relationships/image" Target="../media/image60.png"/><Relationship Id="rId15" Type="http://schemas.openxmlformats.org/officeDocument/2006/relationships/image" Target="../media/image59.png"/><Relationship Id="rId14" Type="http://schemas.openxmlformats.org/officeDocument/2006/relationships/slide" Target="slide26.xml"/><Relationship Id="rId13" Type="http://schemas.openxmlformats.org/officeDocument/2006/relationships/image" Target="../media/image58.png"/><Relationship Id="rId12" Type="http://schemas.openxmlformats.org/officeDocument/2006/relationships/image" Target="../media/image57.png"/><Relationship Id="rId11" Type="http://schemas.openxmlformats.org/officeDocument/2006/relationships/image" Target="../media/image56.png"/><Relationship Id="rId10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903066" y="1571987"/>
            <a:ext cx="5968365" cy="7646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7485" algn="l" rtl="0" eaLnBrk="0">
              <a:lnSpc>
                <a:spcPct val="79000"/>
              </a:lnSpc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Estimation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Optimization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endParaRPr sz="2000" dirty="0">
              <a:latin typeface="Times New Roman"/>
              <a:ea typeface="Times New Roman"/>
              <a:cs typeface="Times New Roman"/>
            </a:endParaRPr>
          </a:p>
          <a:p>
            <a:pPr marL="1007110" algn="l" rtl="0" eaLnBrk="0">
              <a:lnSpc>
                <a:spcPct val="79000"/>
              </a:lnSpc>
              <a:spcBef>
                <a:spcPts val="595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Mechanism in Dancing wit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 the Stars</a:t>
            </a:r>
            <a:endParaRPr sz="20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67635" algn="l" rtl="0" eaLnBrk="0">
              <a:lnSpc>
                <a:spcPct val="82000"/>
              </a:lnSpc>
              <a:spcBef>
                <a:spcPts val="331"/>
              </a:spcBef>
              <a:tabLst/>
            </a:pPr>
            <a:r>
              <a:rPr sz="11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Summary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112000"/>
              </a:lnSpc>
              <a:spcBef>
                <a:spcPts val="340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competition-based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entertainment has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gained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global prominence,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design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votin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has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become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increasingly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critical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balancing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audience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engag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ement</a:t>
            </a:r>
            <a:r>
              <a:rPr sz="1100" kern="0" spc="2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outcome</a:t>
            </a:r>
            <a:r>
              <a:rPr sz="1100" kern="0" spc="2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legitimacy.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i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Dancing with</a:t>
            </a:r>
            <a:r>
              <a:rPr sz="1100" i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i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Stars</a:t>
            </a:r>
            <a:r>
              <a:rPr sz="1100" i="1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(DWTS),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spanning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34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seasons wit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 over 400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contestants,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exemplifies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challenge through persistent controversies where fan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popularity overrides technical merit.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Histori-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cal rule changes—from rank-based to percentage-bas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ed aggregation and introduction of</a:t>
            </a:r>
            <a:r>
              <a:rPr sz="1100" kern="0" spc="-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save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mechanisms—reflect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ongoing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struggles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 reconcile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expert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evaluation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democratic participa-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tion.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5240" indent="221615" algn="l" rtl="0" eaLnBrk="0">
              <a:lnSpc>
                <a:spcPct val="110000"/>
              </a:lnSpc>
              <a:spcBef>
                <a:spcPts val="485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 this paper, we systematically stud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 voting mechanisms in competition formats through data-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driven analysis across 34 seasons, and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work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can be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summarized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following: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83540" indent="-122554" algn="l" rtl="0" eaLnBrk="0">
              <a:lnSpc>
                <a:spcPct val="110000"/>
              </a:lnSpc>
              <a:spcBef>
                <a:spcPts val="335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 Problem</a:t>
            </a:r>
            <a:r>
              <a:rPr sz="1100" b="1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we develop a residual-based inverse 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nference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estimate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unobserved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votes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 judge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elimination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patterns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Using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Ridge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regression,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achieve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high elimination match rate, demonstrating reliable recovery of lat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ent audience preferences.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384809" indent="-123825" algn="l" rtl="0" eaLnBrk="0">
              <a:lnSpc>
                <a:spcPct val="108000"/>
              </a:lnSpc>
              <a:spcBef>
                <a:spcPts val="995"/>
              </a:spcBef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 Problem 2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we conduct counterfactual simulations comparing three historical voting rules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(Rank Sum, Percent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Sum, Judge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Save).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construct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 multi-cr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iteria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evaluation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framework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measuring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fairness,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balance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stability,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revealing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Rank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achieves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optimal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equi-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librium while Judge Save introduces 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ystematic bias.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382904" indent="-121920" algn="l" rtl="0" eaLnBrk="0">
              <a:lnSpc>
                <a:spcPct val="110000"/>
              </a:lnSpc>
              <a:spcBef>
                <a:spcPts val="1043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b="1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Problem</a:t>
            </a:r>
            <a:r>
              <a:rPr sz="1100" b="1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employ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Twin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Random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Forest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architecture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ecompose judge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preference structures.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Through SHAP analysis, we quantif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 divergent value systems: judges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prioritize technical execution while fans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emphas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ize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temporal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loyalty.  Industry-specific bias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patterns emerge from comprehensive featu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 analysis.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384809" indent="-123825" algn="l" rtl="0" eaLnBrk="0">
              <a:lnSpc>
                <a:spcPct val="108000"/>
              </a:lnSpc>
              <a:spcBef>
                <a:spcPts val="995"/>
              </a:spcBef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 Problem 4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we design an Adaptive Weighted Voting System that dynamically shifts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influence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early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entertainment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focus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te-stage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technical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emphasis.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Retrospective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simulation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demonstrates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substantial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controversy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reductio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while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maintaining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audience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gagement.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6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" indent="221615" algn="l" rtl="0" eaLnBrk="0">
              <a:lnSpc>
                <a:spcPct val="103000"/>
              </a:lnSpc>
              <a:spcBef>
                <a:spcPts val="341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Finally,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conduct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sensitivity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sis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hyperparameters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validate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robustness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across parameter variations.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Our framework ext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ends beyond DWTS to any expert-versus-audience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 context, providing a reproducible analytical pipeline for comp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etition format optimization.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604" indent="635" algn="l" rtl="0" eaLnBrk="0">
              <a:lnSpc>
                <a:spcPct val="104000"/>
              </a:lnSpc>
              <a:spcBef>
                <a:spcPts val="5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Keywords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 vote estimation; Voting mechanism optimization; Rid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ge regression; Random For-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est; SHAP analysis; Counterfactual simulation; Adaptiv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 weighted voting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5101559" y="653884"/>
            <a:ext cx="1497330" cy="450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 Control Numb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er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367029" algn="l" rtl="0" eaLnBrk="0">
              <a:lnSpc>
                <a:spcPct val="70000"/>
              </a:lnSpc>
              <a:spcBef>
                <a:spcPts val="5"/>
              </a:spcBef>
              <a:tabLst/>
            </a:pPr>
            <a:r>
              <a:rPr sz="1700" b="1" kern="0" spc="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2631703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3362215" y="654339"/>
            <a:ext cx="1053464" cy="530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4650" algn="l" rtl="0" eaLnBrk="0">
              <a:lnSpc>
                <a:spcPct val="71000"/>
              </a:lnSpc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50495" algn="l" rtl="0" eaLnBrk="0">
              <a:lnSpc>
                <a:spcPct val="71000"/>
              </a:lnSpc>
              <a:spcBef>
                <a:spcPts val="505"/>
              </a:spcBef>
              <a:tabLst/>
            </a:pPr>
            <a:r>
              <a:rPr sz="1100" b="1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MCM/ICM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spcBef>
                <a:spcPts val="5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Summary Sheet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378194" y="653884"/>
            <a:ext cx="1096010" cy="449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Problem Chosen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8155" algn="l" rtl="0" eaLnBrk="0">
              <a:lnSpc>
                <a:spcPct val="70000"/>
              </a:lnSpc>
              <a:tabLst/>
            </a:pPr>
            <a:r>
              <a:rPr sz="1700" b="1" kern="0" spc="-2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4400" y="1273631"/>
            <a:ext cx="5943600" cy="189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904129" y="927762"/>
            <a:ext cx="5967095" cy="8092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70000"/>
              </a:lnSpc>
              <a:tabLst/>
            </a:pP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Contents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9684" algn="l" rtl="0" eaLnBrk="0">
              <a:lnSpc>
                <a:spcPct val="86000"/>
              </a:lnSpc>
              <a:spcBef>
                <a:spcPts val="1478"/>
              </a:spcBef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  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.   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63"/>
              </a:lnSpc>
              <a:spcBef>
                <a:spcPts val="519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1.1    Pr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oblem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Background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.  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 3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40"/>
              </a:lnSpc>
              <a:spcBef>
                <a:spcPts val="274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1.2    Restatement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and Related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Work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 3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40"/>
              </a:lnSpc>
              <a:spcBef>
                <a:spcPts val="297"/>
              </a:spcBef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1.3     Our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Work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.   .   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3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ts val="1265"/>
              </a:lnSpc>
              <a:spcBef>
                <a:spcPts val="770"/>
              </a:spcBef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  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Assumptions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6000"/>
              </a:lnSpc>
              <a:spcBef>
                <a:spcPts val="770"/>
              </a:spcBef>
              <a:tabLst/>
            </a:pP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3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   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Notations</a:t>
            </a: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 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96000"/>
              </a:lnSpc>
              <a:spcBef>
                <a:spcPts val="991"/>
              </a:spcBef>
              <a:tabLst/>
            </a:pP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4 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Data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Preparation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and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Exploratory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Data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Analysis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  </a:t>
            </a: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63"/>
              </a:lnSpc>
              <a:spcBef>
                <a:spcPts val="290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4.1    Cleaning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and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Preprocessing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.   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5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53"/>
              </a:lnSpc>
              <a:spcBef>
                <a:spcPts val="274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4.2    Judges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Score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Statistics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 6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576580" algn="l" rtl="0" eaLnBrk="0">
              <a:lnSpc>
                <a:spcPts val="1444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4.2.1     Ju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dge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Consistency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576580" algn="l" rtl="0" eaLnBrk="0">
              <a:lnSpc>
                <a:spcPts val="1431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4.2.2     Within-Week Variance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.  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 6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576580" algn="l" rtl="0" eaLnBrk="0">
              <a:lnSpc>
                <a:spcPts val="1440"/>
              </a:lnSpc>
              <a:spcBef>
                <a:spcPts val="4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4.2.3     Distribution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  6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334" algn="l" rtl="0" eaLnBrk="0">
              <a:lnSpc>
                <a:spcPct val="79000"/>
              </a:lnSpc>
              <a:spcBef>
                <a:spcPts val="765"/>
              </a:spcBef>
              <a:tabLst/>
            </a:pP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5 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Problem</a:t>
            </a:r>
            <a:r>
              <a:rPr sz="1100" b="1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1:</a:t>
            </a:r>
            <a:r>
              <a:rPr sz="1100" b="1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Estimation</a:t>
            </a: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of</a:t>
            </a: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Latent</a:t>
            </a: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Fan</a:t>
            </a: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Votes</a:t>
            </a: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63"/>
              </a:lnSpc>
              <a:spcBef>
                <a:spcPts val="519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5.1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The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Meritocracy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Gap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: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Why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Judge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Scores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Are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Not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Enough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. 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 7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63"/>
              </a:lnSpc>
              <a:spcBef>
                <a:spcPts val="274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5.2    Ridge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Regression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Model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 7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40"/>
              </a:lnSpc>
              <a:spcBef>
                <a:spcPts val="274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5.3     Validation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.   .   .   .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  8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53"/>
              </a:lnSpc>
              <a:spcBef>
                <a:spcPts val="4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5.3.1     Consistency Analysis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 8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44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5.3.2     Uncertainty Analysis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 8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579755" algn="l" rtl="0" eaLnBrk="0">
              <a:lnSpc>
                <a:spcPts val="1453"/>
              </a:lnSpc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8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5.3.3     Bootstrap Prediction Intervals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.   .  .   .  .   .  .   .  .   .  .   .  .   .  .   .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.  .   .  .   .  .   .      9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970" algn="l" rtl="0" eaLnBrk="0">
              <a:lnSpc>
                <a:spcPct val="96000"/>
              </a:lnSpc>
              <a:spcBef>
                <a:spcPts val="747"/>
              </a:spcBef>
              <a:tabLst/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6    Problem 2:</a:t>
            </a:r>
            <a:r>
              <a:rPr sz="1100" b="1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Mechanism</a:t>
            </a:r>
            <a:r>
              <a:rPr sz="11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Comparison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.   .  .   .  .   .  .   .  .   .  .   .  .   .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.  .   .  .   .  .   .  .   .  .   .   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63"/>
              </a:lnSpc>
              <a:spcBef>
                <a:spcPts val="290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0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6.1    Quantitative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0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0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Comparison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11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40"/>
              </a:lnSpc>
              <a:spcBef>
                <a:spcPts val="274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6.2    Controversial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Case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Studies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12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53"/>
              </a:lnSpc>
              <a:spcBef>
                <a:spcPts val="4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6.2.1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Case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Bobby Bones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(Season 27, 2018)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12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53"/>
              </a:lnSpc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6.2.2     Case 2: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Jerry Rice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(Season 2,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2006)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13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63"/>
              </a:lnSpc>
              <a:spcBef>
                <a:spcPts val="274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6.3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Cross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Rule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Comparison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and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Implications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. 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14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9000"/>
              </a:lnSpc>
              <a:spcBef>
                <a:spcPts val="743"/>
              </a:spcBef>
              <a:tabLst/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    Problem 3:</a:t>
            </a:r>
            <a:r>
              <a:rPr sz="1100" b="1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Determinants of Success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.  .   .  .   .  .   .  .   .  .   .  .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.  .   .  .   .  .   .  .   .  .   .  .   .  .    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63"/>
              </a:lnSpc>
              <a:spcBef>
                <a:spcPts val="519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7.1    Differential Feature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Importance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.   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16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63"/>
              </a:lnSpc>
              <a:spcBef>
                <a:spcPts val="274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7.2    Nonlinear Effects via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SHAP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Analysis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. 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17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63"/>
              </a:lnSpc>
              <a:spcBef>
                <a:spcPts val="274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7.3    Industry-Specific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Bias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Patterns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18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63"/>
              </a:lnSpc>
              <a:spcBef>
                <a:spcPts val="274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7.4    Contestant Archetype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Classification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 18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970" algn="l" rtl="0" eaLnBrk="0">
              <a:lnSpc>
                <a:spcPct val="96000"/>
              </a:lnSpc>
              <a:spcBef>
                <a:spcPts val="747"/>
              </a:spcBef>
              <a:tabLst/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7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8    Problem 4:</a:t>
            </a:r>
            <a:r>
              <a:rPr sz="1100" b="1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7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7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S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7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ystem</a:t>
            </a:r>
            <a:r>
              <a:rPr sz="11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7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7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Optimization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63"/>
              </a:lnSpc>
              <a:spcBef>
                <a:spcPts val="290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7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8.1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7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7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AWVS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7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7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Design</a:t>
            </a:r>
            <a:r>
              <a:rPr sz="10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63"/>
              </a:lnSpc>
              <a:spcBef>
                <a:spcPts val="274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8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8.2    Comparative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8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8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Evaluation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.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21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970" algn="l" rtl="0" eaLnBrk="0">
              <a:lnSpc>
                <a:spcPct val="96000"/>
              </a:lnSpc>
              <a:spcBef>
                <a:spcPts val="747"/>
              </a:spcBef>
              <a:tabLst/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9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9    Model</a:t>
            </a:r>
            <a:r>
              <a:rPr sz="1100" b="1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9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9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Sensitivity Analysis</a:t>
            </a:r>
            <a:r>
              <a:rPr sz="1100" b="1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</a:t>
            </a: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22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96000"/>
              </a:lnSpc>
              <a:spcBef>
                <a:spcPts val="7"/>
              </a:spcBef>
              <a:tabLst/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0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10  Strengths and Weaknesses</a:t>
            </a:r>
            <a:r>
              <a:rPr sz="1100" b="1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</a:t>
            </a: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24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3852392" y="9395894"/>
            <a:ext cx="85089" cy="208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440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/>
          <p:nvPr/>
        </p:nvSpPr>
        <p:spPr>
          <a:xfrm>
            <a:off x="904129" y="938547"/>
            <a:ext cx="5967095" cy="1174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463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10.1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Strengths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24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40"/>
              </a:lnSpc>
              <a:spcBef>
                <a:spcPts val="274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10.2  Weaknesses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.   .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25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marL="19684" algn="l" rtl="0" eaLnBrk="0">
              <a:lnSpc>
                <a:spcPct val="86000"/>
              </a:lnSpc>
              <a:spcBef>
                <a:spcPts val="776"/>
              </a:spcBef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11  Conclusion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.   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25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marL="13970" algn="l" rtl="0" eaLnBrk="0">
              <a:lnSpc>
                <a:spcPct val="86000"/>
              </a:lnSpc>
              <a:spcBef>
                <a:spcPts val="998"/>
              </a:spcBef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References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.   .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 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25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5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Use</a:t>
            </a: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of AI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27</a:t>
            </a:r>
            <a:endParaRPr sz="1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Page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2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0" name="path 20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/>
          <p:nvPr/>
        </p:nvSpPr>
        <p:spPr>
          <a:xfrm>
            <a:off x="903673" y="927762"/>
            <a:ext cx="5967729" cy="6827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70000"/>
              </a:lnSpc>
              <a:tabLst/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    Introduct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ion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22225" algn="l" rtl="0" eaLnBrk="0">
              <a:lnSpc>
                <a:spcPct val="78000"/>
              </a:lnSpc>
              <a:spcBef>
                <a:spcPts val="1390"/>
              </a:spcBef>
              <a:tabLst/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1.1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Problem</a:t>
            </a: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Background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indent="223520" algn="l" rtl="0" eaLnBrk="0">
              <a:lnSpc>
                <a:spcPct val="108000"/>
              </a:lnSpc>
              <a:spcBef>
                <a:spcPts val="1068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Throughout its 34 seasons, Dancing with 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Stars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(DWTS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has been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shrouded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controversy.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These controversies highlight discrepancies in outcomes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between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show’s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two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combined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dg-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ing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systems: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ranking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em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percentage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system.  Given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both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votes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judge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directly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impact the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fairness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the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competit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ion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audience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engagement,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since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viewer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counts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cannot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disclosed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mature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currently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exists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optimize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 hybrid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system.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There is an urgent need to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establish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scientific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estimating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audience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votes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explore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more reasonable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combination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mechanism.  Th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optimized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would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not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only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resolve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DWTS’s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ngstanding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controversies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but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also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improve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show’s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 mechanism.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 soluti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 will elevate the competition’s professionalism and fairness, strik-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ing a balance between audience en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gagement and competitive rigor—thereby providing a replicable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framework for similar global rea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lity competition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shows.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2225" algn="l" rtl="0" eaLnBrk="0">
              <a:lnSpc>
                <a:spcPct val="70000"/>
              </a:lnSpc>
              <a:spcBef>
                <a:spcPts val="1161"/>
              </a:spcBef>
              <a:tabLst/>
            </a:pP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1.2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Restatement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Related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Work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3334" indent="224154" algn="l" rtl="0" eaLnBrk="0">
              <a:lnSpc>
                <a:spcPct val="98000"/>
              </a:lnSpc>
              <a:spcBef>
                <a:spcPts val="1276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Given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34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seasons of DWTS data, including contestant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metadata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weekly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(but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without fan vote data), we add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ress four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questions: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50190" algn="l" rtl="0" eaLnBrk="0">
              <a:lnSpc>
                <a:spcPts val="1440"/>
              </a:lnSpc>
              <a:spcBef>
                <a:spcPts val="726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 Vote Estimation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Develop models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 estimate fan votes and quantify uncertainty.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970" indent="223520" algn="l" rtl="0" eaLnBrk="0">
              <a:lnSpc>
                <a:spcPct val="107000"/>
              </a:lnSpc>
              <a:spcBef>
                <a:spcPts val="737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 Method</a:t>
            </a:r>
            <a:r>
              <a:rPr sz="1100" b="1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Comparison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Compare Rank Sum vs.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Percent Sum,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analyze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controv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ersial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cases, and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evaluate the Judge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Save rule.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970" indent="225425" algn="l" rtl="0" eaLnBrk="0">
              <a:lnSpc>
                <a:spcPct val="110000"/>
              </a:lnSpc>
              <a:spcBef>
                <a:spcPts val="784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</a:t>
            </a:r>
            <a:r>
              <a:rPr sz="1100" b="1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Impact</a:t>
            </a:r>
            <a:r>
              <a:rPr sz="1100" b="1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  Model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how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ancer  and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celebrity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attributes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affect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outcomes,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examining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scores and fan vo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8415" indent="216534" algn="l" rtl="0" eaLnBrk="0">
              <a:lnSpc>
                <a:spcPct val="107000"/>
              </a:lnSpc>
              <a:spcBef>
                <a:spcPts val="711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Proposed Voting System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Design a fairer and more engag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ing voting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empirical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support.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2225" algn="l" rtl="0" eaLnBrk="0">
              <a:lnSpc>
                <a:spcPct val="70000"/>
              </a:lnSpc>
              <a:spcBef>
                <a:spcPts val="1230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1.3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Our Work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indent="223520" algn="l" rtl="0" eaLnBrk="0">
              <a:lnSpc>
                <a:spcPct val="110000"/>
              </a:lnSpc>
              <a:spcBef>
                <a:spcPts val="7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response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challenge,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our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approach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ntertwines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statistical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analysis,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machine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learning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techniques[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5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], and dynamic simulations to forge a comprehensive model of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momentum dyna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mics.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By meticulously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analyzing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 from featured matches,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seek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pinpoint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patterns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nd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correla-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tions that signify momentum shifts.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Our methodology encompasses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 rigorous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validat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ion process,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ensuring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model’s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reliability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appl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icability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real-world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scenarios.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Through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innova-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tive lens, we aim to illuminate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strategies for harnessing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momentum,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ereby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enriching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tactical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arsenal available to competitors and co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aches in the high-stakes environment of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professional tennis.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Page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3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6" name="path 26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902459" y="3521832"/>
            <a:ext cx="5968365" cy="525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42464" algn="l" rtl="0" eaLnBrk="0">
              <a:lnSpc>
                <a:spcPct val="82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Fram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ework of our work.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77000"/>
              </a:lnSpc>
              <a:spcBef>
                <a:spcPts val="521"/>
              </a:spcBef>
              <a:tabLst/>
            </a:pP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   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Assumptions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3334" algn="l" rtl="0" eaLnBrk="0">
              <a:lnSpc>
                <a:spcPct val="78000"/>
              </a:lnSpc>
              <a:spcBef>
                <a:spcPts val="1241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Assumption</a:t>
            </a:r>
            <a:r>
              <a:rPr sz="1400" b="1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1:</a:t>
            </a:r>
            <a:r>
              <a:rPr sz="1400" b="1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Fans</a:t>
            </a: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</a:t>
            </a: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Evaluate</a:t>
            </a: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Independently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5875" indent="219075" algn="l" rtl="0" eaLnBrk="0">
              <a:lnSpc>
                <a:spcPct val="99000"/>
              </a:lnSpc>
              <a:spcBef>
                <a:spcPts val="1122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model the judge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fan votes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separate components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distinct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depen-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dencies.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Our Twin Random Forest architecture trains separate models for fan and</a:t>
            </a:r>
            <a:r>
              <a:rPr sz="1100" kern="0" spc="-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preferences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(see Model Construction).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970" indent="220979" algn="l" rtl="0" eaLnBrk="0">
              <a:lnSpc>
                <a:spcPct val="99000"/>
              </a:lnSpc>
              <a:spcBef>
                <a:spcPts val="1124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Justification:</a:t>
            </a:r>
            <a:r>
              <a:rPr sz="1100" b="1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clos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before judge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announced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(to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prevent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strategic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ing).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 deliberate privately witho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ut access to real-time fan vote data.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334" algn="l" rtl="0" eaLnBrk="0">
              <a:lnSpc>
                <a:spcPct val="78000"/>
              </a:lnSpc>
              <a:spcBef>
                <a:spcPts val="1189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Assumption</a:t>
            </a: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2:</a:t>
            </a:r>
            <a:r>
              <a:rPr sz="1400" b="1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Preferences</a:t>
            </a: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Exhibit</a:t>
            </a: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Temporal</a:t>
            </a: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Smoothness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9050" indent="215900" algn="l" rtl="0" eaLnBrk="0">
              <a:lnSpc>
                <a:spcPct val="112000"/>
              </a:lnSpc>
              <a:spcBef>
                <a:spcPts val="840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apply regularization assuming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200" kern="0" spc="40" baseline="-1302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i,t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≈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200" kern="0" spc="40" baseline="-1302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i,t-1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or most contestants.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Ridge regression naturally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smooths estimates across weeks through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1200" kern="0" spc="40" baseline="-1302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regularization on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residuals.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5240" indent="219075" algn="l" rtl="0" eaLnBrk="0">
              <a:lnSpc>
                <a:spcPct val="99000"/>
              </a:lnSpc>
              <a:spcBef>
                <a:spcPts val="929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Justification:</a:t>
            </a:r>
            <a:r>
              <a:rPr sz="1100" b="1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ewer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loyalty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develops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over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time;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contestant’s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 base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does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not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drastically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change week-to-week unless a major event occurs (e.g., viral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performance).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334" algn="l" rtl="0" eaLnBrk="0">
              <a:lnSpc>
                <a:spcPct val="78000"/>
              </a:lnSpc>
              <a:spcBef>
                <a:spcPts val="1193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Assumption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3:</a:t>
            </a:r>
            <a:r>
              <a:rPr sz="1400" b="1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Shares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Within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Each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indent="227329" algn="l" rtl="0" eaLnBrk="0">
              <a:lnSpc>
                <a:spcPct val="98000"/>
              </a:lnSpc>
              <a:spcBef>
                <a:spcPts val="1136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Our estimates represent vote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shares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(rang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ing from 0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1)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rather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than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raw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counts.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All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proxies are normalize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 as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follows: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633345" algn="l" rtl="0" eaLnBrk="0">
              <a:lnSpc>
                <a:spcPts val="2718"/>
              </a:lnSpc>
              <a:spcBef>
                <a:spcPts val="142"/>
              </a:spcBef>
              <a:tabLst>
                <a:tab pos="595502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5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220979" algn="l" rtl="0" eaLnBrk="0">
              <a:lnSpc>
                <a:spcPct val="96000"/>
              </a:lnSpc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Justification:</a:t>
            </a:r>
            <a:r>
              <a:rPr sz="1100" b="1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Regardless of absolute vote counts, the re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lative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share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votes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determines rank-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ings.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Since absolute to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tals are unidentifiable, we model fan preferences as probability distributions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over contestants.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36079" y="7764819"/>
            <a:ext cx="3321773" cy="34526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27517" y="939703"/>
            <a:ext cx="4279480" cy="2388547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Page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4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36" name="path 36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8"/>
          <p:cNvSpPr/>
          <p:nvPr/>
        </p:nvSpPr>
        <p:spPr>
          <a:xfrm>
            <a:off x="903066" y="4541394"/>
            <a:ext cx="5992495" cy="4662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4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70000"/>
              </a:lnSpc>
              <a:tabLst/>
            </a:pP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   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Notations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5240" algn="l" rtl="0" eaLnBrk="0">
              <a:lnSpc>
                <a:spcPct val="77000"/>
              </a:lnSpc>
              <a:spcBef>
                <a:spcPts val="1603"/>
              </a:spcBef>
              <a:tabLst/>
            </a:pP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   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Preparation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Exploratory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4604" algn="l" rtl="0" eaLnBrk="0">
              <a:lnSpc>
                <a:spcPct val="78000"/>
              </a:lnSpc>
              <a:spcBef>
                <a:spcPts val="1238"/>
              </a:spcBef>
              <a:tabLst/>
            </a:pP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4.1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Cleaning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Preprocessing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indent="223520" algn="l" rtl="0" eaLnBrk="0">
              <a:lnSpc>
                <a:spcPct val="111000"/>
              </a:lnSpc>
              <a:spcBef>
                <a:spcPts val="779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Wide-to-long</a:t>
            </a:r>
            <a:r>
              <a:rPr sz="1100" b="1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(melt):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transformed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wide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rmat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long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format:  421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rows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153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columns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were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reduced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18,524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row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(contestant-week-judge),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then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aggregated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4,631 rows (contestant-week).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 long format enables week-by-week analysis,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tempor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engineering, and consistent handling of varyin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 season lengths.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5240" indent="220979" algn="l" rtl="0" eaLnBrk="0">
              <a:lnSpc>
                <a:spcPct val="109000"/>
              </a:lnSpc>
              <a:spcBef>
                <a:spcPts val="712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Missing Values:</a:t>
            </a:r>
            <a:r>
              <a:rPr sz="1100" b="1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There were no missing values in</a:t>
            </a: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scores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(6.7%):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structural missingness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due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different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numbers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(3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vs.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4).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exclu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ded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N/A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values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aggregation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ts val="4306"/>
              </a:lnSpc>
              <a:tabLst>
                <a:tab pos="595439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110000"/>
              </a:lnSpc>
              <a:spcBef>
                <a:spcPts val="366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where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1200" kern="0" spc="40" baseline="-13022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valid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count of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on-missing</a:t>
            </a:r>
            <a:r>
              <a:rPr sz="1100" kern="0" spc="-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judges. Zero scores after elimination (40.03% of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contestant-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weeks) were flagged with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week_valid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False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excluded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modeling.  The week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elimination was parsed from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results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 97.62% accuracy (411/421).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334" indent="225425" algn="l" rtl="0" eaLnBrk="0">
              <a:lnSpc>
                <a:spcPct val="99000"/>
              </a:lnSpc>
              <a:spcBef>
                <a:spcPts val="971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 Standardization:</a:t>
            </a:r>
            <a:r>
              <a:rPr sz="1100" b="1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 ensure comparability across we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eks with 3 or 4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judges, we normal-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ized to a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30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-point baseline: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709420" algn="l" rtl="0" eaLnBrk="0">
              <a:lnSpc>
                <a:spcPts val="3069"/>
              </a:lnSpc>
              <a:spcBef>
                <a:spcPts val="1038"/>
              </a:spcBef>
              <a:tabLst>
                <a:tab pos="595439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ts val="1440"/>
              </a:lnSpc>
              <a:spcBef>
                <a:spcPts val="2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 resulted in a mean score of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23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6.92, with a standard deviation of</a:t>
            </a: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43.91, and a score range from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12792" y="8493765"/>
            <a:ext cx="4244871" cy="389826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5766" y="6760100"/>
            <a:ext cx="5941909" cy="546877"/>
          </a:xfrm>
          <a:prstGeom prst="rect">
            <a:avLst/>
          </a:prstGeom>
        </p:spPr>
      </p:pic>
      <p:graphicFrame>
        <p:nvGraphicFramePr>
          <p:cNvPr id="44" name="table 44"/>
          <p:cNvGraphicFramePr>
            <a:graphicFrameLocks noGrp="1"/>
          </p:cNvGraphicFramePr>
          <p:nvPr/>
        </p:nvGraphicFramePr>
        <p:xfrm>
          <a:off x="1484363" y="1183347"/>
          <a:ext cx="4803139" cy="3116580"/>
        </p:xfrm>
        <a:graphic>
          <a:graphicData uri="http://schemas.openxmlformats.org/drawingml/2006/table">
            <a:tbl>
              <a:tblPr/>
              <a:tblGrid>
                <a:gridCol w="1386205"/>
                <a:gridCol w="3416934"/>
              </a:tblGrid>
              <a:tr h="2673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6405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Symbols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69694" algn="l" rtl="0" eaLnBrk="0">
                        <a:lnSpc>
                          <a:spcPct val="82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9909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</a:t>
                      </a: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5790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Season, week, and contes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tant indices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0555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50" baseline="289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1200" kern="0" spc="50" baseline="-4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endParaRPr sz="1200" baseline="-434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5305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Number of active contestants in we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ek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4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0394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50" baseline="5787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i,t</a:t>
                      </a: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21005" algn="l" rtl="0" eaLnBrk="0">
                        <a:lnSpc>
                          <a:spcPts val="1378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  <a:r>
                        <a:rPr sz="11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 score for contestant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 week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35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468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0" baseline="5787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,t</a:t>
                      </a: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1015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 vote share for contestant</a:t>
                      </a: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</a:t>
                      </a: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ek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12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4994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40" baseline="5787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i,s</a:t>
                      </a: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29259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Final placement of contestant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 seaso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9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19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021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1800" kern="0" spc="-60" baseline="5787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11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60" baseline="-1302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,t</a:t>
                      </a:r>
                      <a:r>
                        <a:rPr sz="7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30" baseline="5787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kern="0" spc="-30" baseline="5787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endParaRPr sz="1800" baseline="5787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Rank by</a:t>
                      </a:r>
                      <a:r>
                        <a:rPr sz="11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 scores and by fan</a:t>
                      </a: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votes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0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466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674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800" kern="0" spc="20" baseline="5787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ϵ</a:t>
                      </a:r>
                      <a:r>
                        <a:rPr sz="1200" kern="0" spc="20" baseline="-4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i,t</a:t>
                      </a:r>
                      <a:endParaRPr sz="1200" baseline="-434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35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3230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Ridge regression residual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(fan vote proxy)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2429">
                <a:tc>
                  <a:txBody>
                    <a:bodyPr/>
                    <a:lstStyle/>
                    <a:p>
                      <a:pPr marL="570230" algn="l" rtl="0" eaLnBrk="0">
                        <a:lnSpc>
                          <a:spcPct val="8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-30" baseline="-919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100" kern="0" spc="-30" baseline="23676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nk</a:t>
                      </a:r>
                      <a:endParaRPr sz="1100" baseline="23676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1175" algn="l" rtl="0" eaLnBrk="0">
                        <a:lnSpc>
                          <a:spcPts val="147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-100" baseline="961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11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30" baseline="-1162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30" baseline="5782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rcent</a:t>
                      </a:r>
                      <a:endParaRPr sz="1200" baseline="57828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304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7569" algn="l" rtl="0" eaLnBrk="0">
                        <a:lnSpc>
                          <a:spcPts val="139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Rank</a:t>
                      </a: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sum</a:t>
                      </a:r>
                      <a:r>
                        <a:rPr sz="11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score</a:t>
                      </a: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</a:t>
                      </a:r>
                      <a:r>
                        <a:rPr sz="11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11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60" baseline="-399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,t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 R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1575" algn="l" rtl="0" eaLnBrk="0">
                        <a:lnSpc>
                          <a:spcPct val="69000"/>
                        </a:lnSpc>
                        <a:spcBef>
                          <a:spcPts val="193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Percent s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um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score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90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6894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11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FFI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129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33144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 Favorability Index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98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9119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α(t)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8184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Dynamic</a:t>
                      </a: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 weight in AWVS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6405" algn="l" rtl="0" eaLnBrk="0">
                        <a:lnSpc>
                          <a:spcPct val="8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40" baseline="289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Trend</a:t>
                      </a:r>
                      <a:r>
                        <a:rPr sz="1200" kern="0" spc="40" baseline="-8681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i,t</a:t>
                      </a:r>
                      <a:endParaRPr sz="1200" baseline="-8681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62915" algn="l" rtl="0" eaLnBrk="0">
                        <a:lnSpc>
                          <a:spcPts val="1339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Improvement bonus over moving a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verage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19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05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5619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200" kern="0" spc="-20" baseline="3038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VS</a:t>
                      </a:r>
                      <a:endParaRPr sz="1200" baseline="30384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9014" algn="l" rtl="0" eaLnBrk="0">
                        <a:lnSpc>
                          <a:spcPct val="72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AWVS combine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score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31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1830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ρ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06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834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Spearman rank cor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 coefficient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98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239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5475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1800" kern="0" spc="-20" baseline="-1157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1200" kern="0" spc="-20" baseline="1736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200" baseline="17362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7410" algn="l" rtl="0" eaLnBrk="0">
                        <a:lnSpc>
                          <a:spcPct val="7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Coefficien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 of determination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6" name="textbox 46"/>
          <p:cNvSpPr/>
          <p:nvPr/>
        </p:nvSpPr>
        <p:spPr>
          <a:xfrm>
            <a:off x="2140211" y="3786830"/>
            <a:ext cx="62230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2155364" y="3703297"/>
            <a:ext cx="120650" cy="99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</a:t>
            </a:r>
            <a:endParaRPr sz="7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089470" y="3714786"/>
            <a:ext cx="78883" cy="185728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5316741" y="2861008"/>
            <a:ext cx="127635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i,t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5326426" y="2775460"/>
            <a:ext cx="100330" cy="104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4908817" y="2861008"/>
            <a:ext cx="59055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4879252" y="2775156"/>
            <a:ext cx="83819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2135703" y="3052626"/>
            <a:ext cx="62230" cy="125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2160277" y="2970516"/>
            <a:ext cx="67944" cy="78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10"/>
              </a:lnSpc>
              <a:tabLst/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</a:t>
            </a:r>
            <a:endParaRPr sz="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2069808" y="3052626"/>
            <a:ext cx="59055" cy="125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2080199" y="2970516"/>
            <a:ext cx="75564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7000"/>
              </a:lnSpc>
              <a:tabLst/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</a:t>
            </a:r>
            <a:endParaRPr sz="7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185524" y="2821320"/>
            <a:ext cx="59314" cy="150088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2128825" y="2866356"/>
            <a:ext cx="5905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2142708" y="2765769"/>
            <a:ext cx="59055" cy="137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76"/>
              </a:lnSpc>
              <a:tabLst/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endParaRPr sz="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2331733" y="2491579"/>
            <a:ext cx="127635" cy="126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i,t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2343489" y="2406358"/>
            <a:ext cx="100330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2031009" y="2491579"/>
            <a:ext cx="59055" cy="126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2038061" y="2406056"/>
            <a:ext cx="83819" cy="105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Page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5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3312493" y="1052773"/>
            <a:ext cx="1150619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Table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Notations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6" name="path 86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88"/>
          <p:cNvSpPr/>
          <p:nvPr/>
        </p:nvSpPr>
        <p:spPr>
          <a:xfrm>
            <a:off x="904584" y="938547"/>
            <a:ext cx="5966459" cy="2181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indent="3810" algn="l" rtl="0" eaLnBrk="0">
              <a:lnSpc>
                <a:spcPct val="119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80 to 390.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 exce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eding 300 (70 cases)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were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likely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special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events,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such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finals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or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dances.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5240" indent="222250" algn="l" rtl="0" eaLnBrk="0">
              <a:lnSpc>
                <a:spcPct val="102000"/>
              </a:lnSpc>
              <a:spcBef>
                <a:spcPts val="696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Outliers:</a:t>
            </a:r>
            <a:r>
              <a:rPr sz="1100" b="1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retained 70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 exceeding 300 as special weeks.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Ten cases with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Z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were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also retained as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valid.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There were no negative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8000"/>
              </a:lnSpc>
              <a:spcBef>
                <a:spcPts val="1167"/>
              </a:spcBef>
              <a:tabLst/>
            </a:pP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4.2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Statistics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2000"/>
              </a:lnSpc>
              <a:spcBef>
                <a:spcPts val="1120"/>
              </a:spcBef>
              <a:tabLst/>
            </a:pPr>
            <a:r>
              <a:rPr sz="1100" b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4.2.1 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1100" b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Consistency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34950" algn="l" rtl="0" eaLnBrk="0">
              <a:lnSpc>
                <a:spcPts val="1440"/>
              </a:lnSpc>
              <a:spcBef>
                <a:spcPts val="937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Inter-judge agreement is measured by Spearman rank corr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elation: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6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709420" algn="l" rtl="0" eaLnBrk="0">
              <a:lnSpc>
                <a:spcPct val="82000"/>
              </a:lnSpc>
              <a:spcBef>
                <a:spcPts val="1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Table 2: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Inter-judge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Spearman correlation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904584" y="4195322"/>
            <a:ext cx="5965825" cy="2165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5584" algn="l" rtl="0" eaLnBrk="0">
              <a:lnSpc>
                <a:spcPts val="144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High agreement (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ρ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 0.87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 all pairs)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justifies using aggregated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1000"/>
              </a:lnSpc>
              <a:spcBef>
                <a:spcPts val="1270"/>
              </a:spcBef>
              <a:tabLst/>
            </a:pPr>
            <a:r>
              <a:rPr sz="1100" b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4.2.2 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Within</a:t>
            </a:r>
            <a:r>
              <a:rPr sz="11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</a:t>
            </a:r>
            <a:r>
              <a:rPr sz="11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Variance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34950" algn="l" rtl="0" eaLnBrk="0">
              <a:lnSpc>
                <a:spcPts val="1440"/>
              </a:lnSpc>
              <a:spcBef>
                <a:spcPts val="1090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average within-week standard dev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iation and coefficient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variation are: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507"/>
              </a:lnSpc>
              <a:spcBef>
                <a:spcPts val="1199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σ</a:t>
            </a:r>
            <a:r>
              <a:rPr sz="1200" kern="0" spc="0" baseline="6041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within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28.3,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CV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11.9%         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(4)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4950" algn="l" rtl="0" eaLnBrk="0">
              <a:lnSpc>
                <a:spcPct val="82000"/>
              </a:lnSpc>
              <a:spcBef>
                <a:spcPts val="337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 provides sufficient separation to distinguish indi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vidual performances within each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0000"/>
              </a:lnSpc>
              <a:spcBef>
                <a:spcPts val="1342"/>
              </a:spcBef>
              <a:tabLst/>
            </a:pPr>
            <a:r>
              <a:rPr sz="11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4.2.3 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Distribution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238759" algn="l" rtl="0" eaLnBrk="0">
              <a:lnSpc>
                <a:spcPct val="82000"/>
              </a:lnSpc>
              <a:spcBef>
                <a:spcPts val="3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Standardized scores are approximately nor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mally distributed with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slight right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skew: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67137" y="6536560"/>
            <a:ext cx="2852974" cy="2129639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4400" y="6678575"/>
            <a:ext cx="2852986" cy="1987625"/>
          </a:xfrm>
          <a:prstGeom prst="rect">
            <a:avLst/>
          </a:prstGeom>
        </p:spPr>
      </p:pic>
      <p:graphicFrame>
        <p:nvGraphicFramePr>
          <p:cNvPr id="96" name="table 96"/>
          <p:cNvGraphicFramePr>
            <a:graphicFrameLocks noGrp="1"/>
          </p:cNvGraphicFramePr>
          <p:nvPr/>
        </p:nvGraphicFramePr>
        <p:xfrm>
          <a:off x="2680322" y="3118243"/>
          <a:ext cx="2411729" cy="902334"/>
        </p:xfrm>
        <a:graphic>
          <a:graphicData uri="http://schemas.openxmlformats.org/drawingml/2006/table">
            <a:tbl>
              <a:tblPr/>
              <a:tblGrid>
                <a:gridCol w="1345564"/>
                <a:gridCol w="421004"/>
                <a:gridCol w="645159"/>
              </a:tblGrid>
              <a:tr h="2673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79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 Comparison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4625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ρ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885" algn="l" rtl="0" eaLnBrk="0">
                        <a:lnSpc>
                          <a:spcPts val="144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p-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value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1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35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</a:t>
                      </a:r>
                      <a:r>
                        <a:rPr sz="11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vs</a:t>
                      </a:r>
                      <a:r>
                        <a:rPr sz="11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</a:t>
                      </a: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ts val="144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0.89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9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&lt;</a:t>
                      </a:r>
                      <a:r>
                        <a:rPr sz="11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835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35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</a:t>
                      </a:r>
                      <a:r>
                        <a:rPr sz="11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vs</a:t>
                      </a:r>
                      <a:r>
                        <a:rPr sz="11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79375" algn="l" rtl="0" eaLnBrk="0">
                        <a:lnSpc>
                          <a:spcPts val="1338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0.87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6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&lt;</a:t>
                      </a:r>
                      <a:r>
                        <a:rPr sz="11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03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35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 2 v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</a:t>
                      </a:r>
                      <a:r>
                        <a:rPr sz="1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9375" algn="l" rtl="0" eaLnBrk="0">
                        <a:lnSpc>
                          <a:spcPts val="1338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0.91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33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&lt;</a:t>
                      </a:r>
                      <a:r>
                        <a:rPr sz="11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8" name="textbox 98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Page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2913183" y="8859781"/>
            <a:ext cx="1901189" cy="163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 2: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2" name="path 102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30324" y="3392380"/>
            <a:ext cx="4874007" cy="3249338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903066" y="6835299"/>
            <a:ext cx="5967729" cy="2364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51914" algn="l" rtl="0" eaLnBrk="0">
              <a:lnSpc>
                <a:spcPct val="82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 3: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Average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score ver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sus final placement.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indent="223520" algn="l" rtl="0" eaLnBrk="0">
              <a:lnSpc>
                <a:spcPct val="116000"/>
              </a:lnSpc>
              <a:spcBef>
                <a:spcPts val="1448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only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Ridge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explains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only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200" kern="0" spc="110" baseline="3472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 0.4504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placement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variance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1–27,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leaving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approximately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55%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unexplained.  We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rpret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gap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latent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component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plus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unobserved shoc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5240" algn="l" rtl="0" eaLnBrk="0">
              <a:lnSpc>
                <a:spcPct val="78000"/>
              </a:lnSpc>
              <a:spcBef>
                <a:spcPts val="944"/>
              </a:spcBef>
              <a:tabLst/>
            </a:pP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5.2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Ridge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Regression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34950" algn="l" rtl="0" eaLnBrk="0">
              <a:lnSpc>
                <a:spcPts val="1440"/>
              </a:lnSpc>
              <a:spcBef>
                <a:spcPts val="838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treat fan votes as the latent residual in a li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near ranking model using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Ridge regression[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]: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483"/>
              </a:lnSpc>
              <a:spcBef>
                <a:spcPts val="1199"/>
              </a:spcBef>
              <a:tabLst/>
            </a:pPr>
            <a:r>
              <a:rPr sz="1800" kern="0" spc="0" baseline="1031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200" kern="0" spc="0" baseline="245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200" kern="0" spc="10" baseline="245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,s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10" baseline="1031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baseline="1031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β</a:t>
            </a:r>
            <a:r>
              <a:rPr sz="1200" kern="0" spc="10" baseline="245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10" baseline="1031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baseline="1031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β</a:t>
            </a:r>
            <a:r>
              <a:rPr sz="1200" kern="0" spc="10" baseline="245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10" baseline="10315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0" baseline="1031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</a:t>
            </a:r>
            <a:r>
              <a:rPr sz="1200" kern="0" spc="0" baseline="245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200" kern="0" spc="10" baseline="245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200" kern="0" spc="0" baseline="2451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avg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 kern="0" spc="10" baseline="1031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baseline="1031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β</a:t>
            </a:r>
            <a:r>
              <a:rPr sz="1200" kern="0" spc="10" baseline="245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10" baseline="10315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0" baseline="1031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200" kern="0" spc="0" baseline="245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10" baseline="1031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baseline="1031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ϵ</a:t>
            </a:r>
            <a:r>
              <a:rPr sz="1200" kern="0" spc="10" baseline="245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i,s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baseline="1031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(5)</a:t>
            </a:r>
            <a:endParaRPr sz="1800" baseline="10315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8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110000"/>
              </a:lnSpc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where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200" kern="0" spc="30" baseline="-1302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i,s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final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placement,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</a:t>
            </a:r>
            <a:r>
              <a:rPr sz="1200" kern="0" spc="30" baseline="-1302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</a:t>
            </a:r>
            <a:r>
              <a:rPr sz="1200" kern="0" spc="30" baseline="-13022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avg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average judge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score,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200" kern="0" spc="30" baseline="-1302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captures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fixed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effects.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Ridge regularization (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λ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∥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β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∥</a:t>
            </a:r>
            <a:r>
              <a:rPr sz="1200" kern="0" spc="30" baseline="3472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stabilizes coefficients under multicol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linearity.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903673" y="938547"/>
            <a:ext cx="5967729" cy="2303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22250" algn="l" rtl="0" eaLnBrk="0">
              <a:lnSpc>
                <a:spcPct val="109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summarizes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distribution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standardized judg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es’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their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evolution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over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34 seasons.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scores have mean 236.92 and standa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rd deviation 43.91.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season-by-season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trend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±1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bands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indicates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gradual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flation,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increasing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approximately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218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early seasons to approximately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240 in later seasons.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Season-level heterogeneity is controlled using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5240" algn="l" rtl="0" eaLnBrk="0">
              <a:lnSpc>
                <a:spcPts val="1440"/>
              </a:lnSpc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fixed effects in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all mode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5240" algn="l" rtl="0" eaLnBrk="0">
              <a:lnSpc>
                <a:spcPct val="70000"/>
              </a:lnSpc>
              <a:spcBef>
                <a:spcPts val="1381"/>
              </a:spcBef>
              <a:tabLst/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    Problem</a:t>
            </a:r>
            <a:r>
              <a:rPr sz="1700" b="1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1:</a:t>
            </a:r>
            <a:r>
              <a:rPr sz="1700" b="1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Estimation of Latent Fan Vot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4604" algn="l" rtl="0" eaLnBrk="0">
              <a:lnSpc>
                <a:spcPct val="78000"/>
              </a:lnSpc>
              <a:spcBef>
                <a:spcPts val="1398"/>
              </a:spcBef>
              <a:tabLst/>
            </a:pP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5.1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Meritocracy</a:t>
            </a: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Gap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400" b="1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Why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Are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Not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Enough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222884" algn="l" rtl="0" eaLnBrk="0">
              <a:lnSpc>
                <a:spcPct val="110000"/>
              </a:lnSpc>
              <a:spcBef>
                <a:spcPts val="4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If DWTS were purely merit-based,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average judge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should tightly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determin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final place-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ment.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 practice, the relationship is noisy and contains clear outl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iers—contestants with low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 but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high final rankings.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Page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112" name="path 112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14"/>
          <p:cNvSpPr/>
          <p:nvPr/>
        </p:nvSpPr>
        <p:spPr>
          <a:xfrm>
            <a:off x="903521" y="938547"/>
            <a:ext cx="5967729" cy="4348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24790" algn="l" rtl="0" eaLnBrk="0">
              <a:lnSpc>
                <a:spcPct val="110000"/>
              </a:lnSpc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Residual interpretation.</a:t>
            </a:r>
            <a:r>
              <a:rPr sz="1100" b="1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Since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Ranking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JudgeSc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ore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are observed, residuals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ϵ</a:t>
            </a:r>
            <a:r>
              <a:rPr sz="1200" kern="0" spc="30" baseline="-1302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capture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fan component.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convert residuals to fan sup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port scores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via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sigmoid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transformation: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73910" algn="l" rtl="0" eaLnBrk="0">
              <a:lnSpc>
                <a:spcPts val="2904"/>
              </a:lnSpc>
              <a:spcBef>
                <a:spcPts val="302"/>
              </a:spcBef>
              <a:tabLst>
                <a:tab pos="595439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  <a:p>
            <a:pPr marL="236854" algn="l" rtl="0" eaLnBrk="0">
              <a:lnSpc>
                <a:spcPts val="1440"/>
              </a:lnSpc>
              <a:spcBef>
                <a:spcPts val="984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where negative residuals 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mply stronger fan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support.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36220" algn="l" rtl="0" eaLnBrk="0">
              <a:lnSpc>
                <a:spcPct val="83000"/>
              </a:lnSpc>
              <a:spcBef>
                <a:spcPts val="1007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Week-level normalization.</a:t>
            </a:r>
            <a:r>
              <a:rPr sz="1100" b="1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 weekly simulations, we apply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Softmax to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obtain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shares: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995170" algn="l" rtl="0" eaLnBrk="0">
              <a:lnSpc>
                <a:spcPts val="3123"/>
              </a:lnSpc>
              <a:spcBef>
                <a:spcPts val="1022"/>
              </a:spcBef>
              <a:tabLst>
                <a:tab pos="595439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440"/>
              </a:lnSpc>
              <a:spcBef>
                <a:spcPts val="592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ensuring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weekly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totals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100%.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Uncertainty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quantified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using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±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1σ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bands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σ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1.5833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4604" algn="l" rtl="0" eaLnBrk="0">
              <a:lnSpc>
                <a:spcPct val="70000"/>
              </a:lnSpc>
              <a:spcBef>
                <a:spcPts val="1154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5.3    Validation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3970" algn="l" rtl="0" eaLnBrk="0">
              <a:lnSpc>
                <a:spcPct val="82000"/>
              </a:lnSpc>
              <a:spcBef>
                <a:spcPts val="1252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5.3.1    Consistency 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1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23520" algn="l" rtl="0" eaLnBrk="0">
              <a:lnSpc>
                <a:spcPct val="107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consistency of the model was evaluated by comparing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predicted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eliminatio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actual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outcomes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weekly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basis.  Fig.  4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illustrates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seasonal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variability,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where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fluctuations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 consistency across seasons ref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lect shifts in competitive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intensity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sensitivity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 rule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changes.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 the weekly data, we 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ecalculated the composite score—integrating</a:t>
            </a:r>
            <a:r>
              <a:rPr sz="11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ratings with estimated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 shares—to verify whether the predicted eliminations align wi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 historical records.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weekly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 achieved an elimination ma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tching rate of 84.62%, demonstrating that the inferred fan shares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effectively replicate the m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ajority of actual elimination events.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99244" y="2620461"/>
            <a:ext cx="3958752" cy="396657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977730" y="1546815"/>
            <a:ext cx="3880267" cy="368821"/>
          </a:xfrm>
          <a:prstGeom prst="rect">
            <a:avLst/>
          </a:prstGeom>
        </p:spPr>
      </p:pic>
      <p:sp>
        <p:nvSpPr>
          <p:cNvPr id="120" name="textbox 120"/>
          <p:cNvSpPr/>
          <p:nvPr/>
        </p:nvSpPr>
        <p:spPr>
          <a:xfrm>
            <a:off x="902155" y="7337762"/>
            <a:ext cx="5969000" cy="1939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31900" algn="l" rtl="0" eaLnBrk="0">
              <a:lnSpc>
                <a:spcPct val="82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 4: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Elimination consistency (match ra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te) by season.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8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2000"/>
              </a:lnSpc>
              <a:spcBef>
                <a:spcPts val="333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5.3.2    Uncertainty 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indent="222884" algn="l" rtl="0" eaLnBrk="0">
              <a:lnSpc>
                <a:spcPct val="110000"/>
              </a:lnSpc>
              <a:spcBef>
                <a:spcPts val="941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quantify prediction uncertainty by propagating residual variability int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 vote-share bounds.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Let   </a:t>
            </a:r>
            <a:r>
              <a:rPr sz="1200" kern="0" spc="40" baseline="-1302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i,t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esti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mated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residual  and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σ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its  standard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deviation;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lower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upper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vote-share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bounds are computed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2155189" algn="l" rtl="0" eaLnBrk="0">
              <a:lnSpc>
                <a:spcPts val="3123"/>
              </a:lnSpc>
              <a:spcBef>
                <a:spcPts val="1"/>
              </a:spcBef>
              <a:tabLst>
                <a:tab pos="595566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pic>
        <p:nvPicPr>
          <p:cNvPr id="122" name="picture 1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057481" y="8867540"/>
            <a:ext cx="3800514" cy="396656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1180917" y="8269663"/>
            <a:ext cx="82550" cy="177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ˆ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1183287" y="8269663"/>
            <a:ext cx="78739" cy="177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ϵ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pic>
        <p:nvPicPr>
          <p:cNvPr id="128" name="picture 1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846415" y="5431600"/>
            <a:ext cx="4041576" cy="1712581"/>
          </a:xfrm>
          <a:prstGeom prst="rect">
            <a:avLst/>
          </a:prstGeom>
        </p:spPr>
      </p:pic>
      <p:sp>
        <p:nvSpPr>
          <p:cNvPr id="130" name="textbox 130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Page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8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132" name="path 132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34"/>
          <p:cNvSpPr/>
          <p:nvPr/>
        </p:nvSpPr>
        <p:spPr>
          <a:xfrm>
            <a:off x="902459" y="5709472"/>
            <a:ext cx="5969000" cy="3519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75689" algn="l" rtl="0" eaLnBrk="0">
              <a:lnSpc>
                <a:spcPct val="83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 5: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Prediction uncertainty surfa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ce over season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224790" algn="l" rtl="0" eaLnBrk="0">
              <a:lnSpc>
                <a:spcPct val="114000"/>
              </a:lnSpc>
              <a:spcBef>
                <a:spcPts val="336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average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interv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width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[V</a:t>
            </a:r>
            <a:r>
              <a:rPr sz="1200" kern="0" spc="30" baseline="-2604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200" kern="0" spc="30" baseline="-2604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remains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relatively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narrow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(approaching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0),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suggesting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Softmax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normalization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compresses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variance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may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understat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true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uncertainty.  We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treat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these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bounds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conservative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lower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bound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recommend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tstrap-based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intervals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future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refinement.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5240" algn="l" rtl="0" eaLnBrk="0">
              <a:lnSpc>
                <a:spcPct val="82000"/>
              </a:lnSpc>
              <a:spcBef>
                <a:spcPts val="963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5.3.3    Bootstrap Predic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tion Intervals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334" indent="223520" algn="l" rtl="0" eaLnBrk="0">
              <a:lnSpc>
                <a:spcPct val="109000"/>
              </a:lnSpc>
              <a:spcBef>
                <a:spcPts val="1215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 address potential underestimation of uncertainty by analytic prop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agation, we employ Boot-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strap resampling (1,000 iterations) to construct empirical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95%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confidence intervals.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each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iter-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ation,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resample the training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set with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replacement,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retrain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Ridge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model,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predict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test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set.  Confidence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intervals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computed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2.5th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97.5th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percentiles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the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Bootstrap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distribution: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87169" algn="l" rtl="0" eaLnBrk="0">
              <a:lnSpc>
                <a:spcPts val="2149"/>
              </a:lnSpc>
              <a:spcBef>
                <a:spcPts val="308"/>
              </a:spcBef>
              <a:tabLst>
                <a:tab pos="595502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7145" indent="219709" algn="l" rtl="0" eaLnBrk="0">
              <a:lnSpc>
                <a:spcPct val="110000"/>
              </a:lnSpc>
              <a:spcBef>
                <a:spcPts val="6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Bootstrap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yields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coverage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rate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94.8%,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closel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matching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nominal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95%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level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validating the approach.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Mean interval width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is 3.24 placement ranks, with wider intervals for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89756" y="8444797"/>
            <a:ext cx="4468241" cy="272992"/>
          </a:xfrm>
          <a:prstGeom prst="rect">
            <a:avLst/>
          </a:prstGeom>
        </p:spPr>
      </p:pic>
      <p:pic>
        <p:nvPicPr>
          <p:cNvPr id="138" name="picture 1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42732" y="6143985"/>
            <a:ext cx="77635" cy="202972"/>
          </a:xfrm>
          <a:prstGeom prst="rect">
            <a:avLst/>
          </a:prstGeom>
        </p:spPr>
      </p:pic>
      <p:pic>
        <p:nvPicPr>
          <p:cNvPr id="140" name="picture 1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065937" y="6192267"/>
            <a:ext cx="74700" cy="154690"/>
          </a:xfrm>
          <a:prstGeom prst="rect">
            <a:avLst/>
          </a:prstGeom>
        </p:spPr>
      </p:pic>
      <p:pic>
        <p:nvPicPr>
          <p:cNvPr id="142" name="picture 1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49222" y="1652079"/>
            <a:ext cx="4635905" cy="3864559"/>
          </a:xfrm>
          <a:prstGeom prst="rect">
            <a:avLst/>
          </a:prstGeom>
        </p:spPr>
      </p:pic>
      <p:sp>
        <p:nvSpPr>
          <p:cNvPr id="144" name="textbox 144"/>
          <p:cNvSpPr/>
          <p:nvPr/>
        </p:nvSpPr>
        <p:spPr>
          <a:xfrm>
            <a:off x="903673" y="938547"/>
            <a:ext cx="5967095" cy="579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22250" algn="l" rtl="0" eaLnBrk="0">
              <a:lnSpc>
                <a:spcPct val="110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5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visualizes the prediction uncertainty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surface across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seasons 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eks,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revealing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table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inter-seasonal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variabil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ity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stemming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fluctuations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competitive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intensity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evolving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 rules.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Page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9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148" name="path 148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44016" y="1681105"/>
            <a:ext cx="5646352" cy="3783209"/>
          </a:xfrm>
          <a:prstGeom prst="rect">
            <a:avLst/>
          </a:prstGeom>
        </p:spPr>
      </p:pic>
      <p:sp>
        <p:nvSpPr>
          <p:cNvPr id="152" name="textbox 152"/>
          <p:cNvSpPr/>
          <p:nvPr/>
        </p:nvSpPr>
        <p:spPr>
          <a:xfrm>
            <a:off x="903673" y="5657756"/>
            <a:ext cx="5968365" cy="3474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640" algn="l" rtl="0" eaLnBrk="0">
              <a:lnSpc>
                <a:spcPct val="83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 6: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Bootstrap prediction intervals: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coverage by week 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nd interval width dynamics.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77000"/>
              </a:lnSpc>
              <a:spcBef>
                <a:spcPts val="521"/>
              </a:spcBef>
              <a:tabLst/>
            </a:pP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   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Problem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2:</a:t>
            </a:r>
            <a:r>
              <a:rPr sz="1700" b="1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Mechanism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Comparison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4604" indent="219075" algn="l" rtl="0" eaLnBrk="0">
              <a:lnSpc>
                <a:spcPct val="110000"/>
              </a:lnSpc>
              <a:spcBef>
                <a:spcPts val="659"/>
              </a:spcBef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constructs a 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counterfactual simulation framework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 quantitatively analyze how different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advancement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rules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impact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contestants’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survi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trajectories.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By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resetting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rules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across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historical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spanning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27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encompassing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241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tion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observation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points,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framework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achieves decoupling between policy environments and historical ou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tcomes.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three voting rules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are: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37490" algn="l" rtl="0" eaLnBrk="0">
              <a:lnSpc>
                <a:spcPts val="1665"/>
              </a:lnSpc>
              <a:spcBef>
                <a:spcPts val="736"/>
              </a:spcBef>
              <a:tabLst/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Rank</a:t>
            </a:r>
            <a:r>
              <a:rPr sz="11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</a:t>
            </a:r>
            <a:r>
              <a:rPr sz="11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(S1–2, S2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8–34):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200" kern="0" spc="0" baseline="52866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nk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 R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70" baseline="-356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,t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 R  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highest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combined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rank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eliminated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35584" algn="l" rtl="0" eaLnBrk="0">
              <a:lnSpc>
                <a:spcPts val="1868"/>
              </a:lnSpc>
              <a:spcBef>
                <a:spcPts val="492"/>
              </a:spcBef>
              <a:tabLst/>
            </a:pPr>
            <a:r>
              <a:rPr sz="11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Percent Sum            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200" kern="0" spc="50" baseline="52931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rcent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</a:t>
            </a:r>
            <a:r>
              <a:rPr sz="1200" kern="0" spc="50" baseline="-783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i,t</a:t>
            </a:r>
            <a:r>
              <a:rPr sz="7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50" baseline="29499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50" baseline="29499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ε</a:t>
            </a:r>
            <a:r>
              <a:rPr sz="1200" kern="0" spc="50" baseline="-208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7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</a:t>
            </a:r>
            <a:r>
              <a:rPr sz="1200" kern="0" spc="50" baseline="-783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k,t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 V</a:t>
            </a:r>
            <a:r>
              <a:rPr sz="1200" kern="0" spc="50" baseline="-783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i,t</a:t>
            </a:r>
            <a:r>
              <a:rPr sz="700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50" baseline="29499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50" baseline="29499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ε</a:t>
            </a:r>
            <a:r>
              <a:rPr sz="1200" kern="0" spc="50" baseline="-208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200" kern="0" spc="50" baseline="5183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k,t</a:t>
            </a:r>
            <a:r>
              <a:rPr sz="1800" kern="0" spc="50" baseline="345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50" baseline="345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lowest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50" baseline="345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percentage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eliminated.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2225" indent="211454" algn="l" rtl="0" eaLnBrk="0">
              <a:lnSpc>
                <a:spcPct val="110000"/>
              </a:lnSpc>
              <a:spcBef>
                <a:spcPts val="628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Save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(S28–34):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Bottom-2 by Rank Sum identified,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 eliminate 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lower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50" baseline="578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i,t</a:t>
            </a:r>
            <a:r>
              <a:rPr sz="1800" kern="0" spc="50" baseline="5787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800" baseline="5787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223520" algn="l" rtl="0" eaLnBrk="0">
              <a:lnSpc>
                <a:spcPct val="110000"/>
              </a:lnSpc>
              <a:spcBef>
                <a:spcPts val="5"/>
              </a:spcBef>
              <a:tabLst/>
            </a:pP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 quantify bias,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define the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b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Favorability</a:t>
            </a:r>
            <a:r>
              <a:rPr sz="1100" b="1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Index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 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FFI</a:t>
            </a:r>
            <a:r>
              <a:rPr sz="1200" kern="0" spc="50" baseline="-1302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i,t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(R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50" baseline="-21703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,t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)/(N</a:t>
            </a:r>
            <a:r>
              <a:rPr sz="1200" kern="0" spc="50" baseline="-1302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1)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∈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1,</a:t>
            </a: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+1]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where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FFI</a:t>
            </a:r>
            <a:r>
              <a:rPr sz="11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indicates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fan-favored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FFI</a:t>
            </a:r>
            <a:r>
              <a:rPr sz="11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&lt;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indicates ju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dge-favored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tion.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5900649" y="8627052"/>
            <a:ext cx="127635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i,t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5934198" y="8541504"/>
            <a:ext cx="100330" cy="104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5481041" y="8627052"/>
            <a:ext cx="59055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5513292" y="8541200"/>
            <a:ext cx="83819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pic>
        <p:nvPicPr>
          <p:cNvPr id="162" name="picture 1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715210" y="7823514"/>
            <a:ext cx="102131" cy="184985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020416" y="7803990"/>
            <a:ext cx="481911" cy="182956"/>
          </a:xfrm>
          <a:prstGeom prst="rect">
            <a:avLst/>
          </a:prstGeom>
        </p:spPr>
      </p:pic>
      <p:sp>
        <p:nvSpPr>
          <p:cNvPr id="166" name="textbox 166"/>
          <p:cNvSpPr/>
          <p:nvPr/>
        </p:nvSpPr>
        <p:spPr>
          <a:xfrm>
            <a:off x="3903307" y="7600206"/>
            <a:ext cx="127635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i,t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4002359" y="7514658"/>
            <a:ext cx="100330" cy="104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3495396" y="7600206"/>
            <a:ext cx="59055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3543831" y="7514354"/>
            <a:ext cx="83819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pic>
        <p:nvPicPr>
          <p:cNvPr id="174" name="picture 1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079260" y="7549626"/>
            <a:ext cx="59314" cy="164500"/>
          </a:xfrm>
          <a:prstGeom prst="rect">
            <a:avLst/>
          </a:prstGeom>
        </p:spPr>
      </p:pic>
      <p:sp>
        <p:nvSpPr>
          <p:cNvPr id="176" name="textbox 176"/>
          <p:cNvSpPr/>
          <p:nvPr/>
        </p:nvSpPr>
        <p:spPr>
          <a:xfrm>
            <a:off x="2987219" y="7600206"/>
            <a:ext cx="59055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3036443" y="7489959"/>
            <a:ext cx="59055" cy="147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60"/>
              </a:lnSpc>
              <a:tabLst/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endParaRPr sz="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904584" y="938547"/>
            <a:ext cx="5966459" cy="579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0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later competition weeks where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sample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size diminishes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prediction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ncertainty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increases.  This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empirical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method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provides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more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robust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uncertainty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quantification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than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analytic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bounds,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particu-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larly for nonlinear transformations in the f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 vote estimation pipeline.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Page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184" name="path 184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86"/>
          <p:cNvSpPr/>
          <p:nvPr/>
        </p:nvSpPr>
        <p:spPr>
          <a:xfrm>
            <a:off x="902155" y="5122067"/>
            <a:ext cx="5969000" cy="4106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224790" algn="l" rtl="0" eaLnBrk="0">
              <a:lnSpc>
                <a:spcPct val="110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Our analysis reveals that in 43.57% of elimination weeks, all th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ree voting rules produce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mutu-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ally distinct outcomes, demonstrating that the choic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 of aggregation method[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6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] substantially influ-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ences competitive dynamics.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 rigorously evaluate rule performance, we construct a multi-criteria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framework encompassing three quantitative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dimensions: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41934" algn="l" rtl="0" eaLnBrk="0">
              <a:lnSpc>
                <a:spcPct val="83000"/>
              </a:lnSpc>
              <a:spcBef>
                <a:spcPts val="979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(1) Fairness.</a:t>
            </a:r>
            <a:r>
              <a:rPr sz="1100" b="1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Measures neutrality between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nd fan influence, quantified as: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352039" algn="l" rtl="0" eaLnBrk="0">
              <a:lnSpc>
                <a:spcPts val="1440"/>
              </a:lnSpc>
              <a:spcBef>
                <a:spcPts val="999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Fairness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11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FFI</a:t>
            </a:r>
            <a:r>
              <a:rPr sz="1100" kern="0" spc="-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                                              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(1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1)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indent="2540" algn="l" rtl="0" eaLnBrk="0">
              <a:lnSpc>
                <a:spcPct val="110000"/>
              </a:lnSpc>
              <a:spcBef>
                <a:spcPts val="941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where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FFI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is the mean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Favorability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Index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ross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all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weeks.  A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value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approaching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indicates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balanced weight dis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tribution.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41934" algn="l" rtl="0" eaLnBrk="0">
              <a:lnSpc>
                <a:spcPct val="83000"/>
              </a:lnSpc>
              <a:spcBef>
                <a:spcPts val="979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(2) Balance.</a:t>
            </a:r>
            <a:r>
              <a:rPr sz="1100" b="1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Assesses outcome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diversity, computed as: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832610" algn="l" rtl="0" eaLnBrk="0">
              <a:lnSpc>
                <a:spcPts val="2981"/>
              </a:lnSpc>
              <a:spcBef>
                <a:spcPts val="992"/>
              </a:spcBef>
              <a:tabLst>
                <a:tab pos="595502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110000"/>
              </a:lnSpc>
              <a:spcBef>
                <a:spcPts val="663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where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1200" kern="0" spc="40" baseline="-13022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fan-favored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counts weeks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where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eliminated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contestants had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below-median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support.  Per-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fect balance (1.0) corresponds to 50% fan-f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avored eliminations.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41934" algn="l" rtl="0" eaLnBrk="0">
              <a:lnSpc>
                <a:spcPct val="83000"/>
              </a:lnSpc>
              <a:spcBef>
                <a:spcPts val="977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(3) Stabil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ity.</a:t>
            </a:r>
            <a:r>
              <a:rPr sz="1100" b="1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Captures temporal consistency, defined as: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384425" algn="l" rtl="0" eaLnBrk="0">
              <a:lnSpc>
                <a:spcPts val="1440"/>
              </a:lnSpc>
              <a:spcBef>
                <a:spcPts val="999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Stability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σ</a:t>
            </a:r>
            <a:r>
              <a:rPr sz="1200" kern="0" spc="0" baseline="10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FFI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(13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indent="2540" algn="l" rtl="0" eaLnBrk="0">
              <a:lnSpc>
                <a:spcPct val="110000"/>
              </a:lnSpc>
              <a:spcBef>
                <a:spcPts val="2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where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σ</a:t>
            </a:r>
            <a:r>
              <a:rPr sz="1200" kern="0" spc="40" baseline="-13022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FFI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 the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standard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deviation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FFI v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alues.  Lower variance implies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more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predictable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rule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behavior across compe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titive contexts.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88" name="picture 1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735113" y="7322412"/>
            <a:ext cx="4122694" cy="378709"/>
          </a:xfrm>
          <a:prstGeom prst="rect">
            <a:avLst/>
          </a:prstGeom>
        </p:spPr>
      </p:pic>
      <p:sp>
        <p:nvSpPr>
          <p:cNvPr id="190" name="textbox 190"/>
          <p:cNvSpPr/>
          <p:nvPr/>
        </p:nvSpPr>
        <p:spPr>
          <a:xfrm>
            <a:off x="903977" y="952941"/>
            <a:ext cx="5967095" cy="2195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78000"/>
              </a:lnSpc>
              <a:tabLst/>
            </a:pP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6.1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Quantitative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Comparison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indent="222884" algn="l" rtl="0" eaLnBrk="0">
              <a:lnSpc>
                <a:spcPct val="111000"/>
              </a:lnSpc>
              <a:spcBef>
                <a:spcPts val="800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flip</a:t>
            </a:r>
            <a:r>
              <a:rPr sz="1100" b="1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rate</a:t>
            </a:r>
            <a:r>
              <a:rPr sz="1100" b="1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quantifies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sensitivity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elimination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outcomes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changes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rules.  It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measures the proportion of weeks in which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two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different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schemes produce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fferent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nation decisions.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 two voting methods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1100" kern="0" spc="-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the flip rate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computed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14755" algn="l" rtl="0" eaLnBrk="0">
              <a:lnSpc>
                <a:spcPts val="1566"/>
              </a:lnSpc>
              <a:spcBef>
                <a:spcPts val="330"/>
              </a:spcBef>
              <a:tabLst/>
            </a:pP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FlipRate</a:t>
            </a:r>
            <a:r>
              <a:rPr sz="1200" kern="0" spc="50" baseline="-3549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A,B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Eliminated</a:t>
            </a:r>
            <a:r>
              <a:rPr sz="1200" kern="0" spc="50" baseline="513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(t)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Eliminated</a:t>
            </a:r>
            <a:r>
              <a:rPr sz="1200" kern="0" spc="50" baseline="513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(t)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}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(10)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spcBef>
                <a:spcPts val="334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 higher flip rat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 indicates greater rule sensitivity: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57935" algn="l" rtl="0" eaLnBrk="0">
              <a:lnSpc>
                <a:spcPct val="82000"/>
              </a:lnSpc>
              <a:spcBef>
                <a:spcPts val="2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Table 3: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Pairwise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flip rates across 241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elimination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weeks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2" name="picture 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04811" y="2194414"/>
            <a:ext cx="107344" cy="151982"/>
          </a:xfrm>
          <a:prstGeom prst="rect">
            <a:avLst/>
          </a:prstGeom>
        </p:spPr>
      </p:pic>
      <p:pic>
        <p:nvPicPr>
          <p:cNvPr id="194" name="picture 1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93181" y="2049365"/>
            <a:ext cx="635406" cy="458840"/>
          </a:xfrm>
          <a:prstGeom prst="rect">
            <a:avLst/>
          </a:prstGeom>
        </p:spPr>
      </p:pic>
      <p:graphicFrame>
        <p:nvGraphicFramePr>
          <p:cNvPr id="196" name="table 196"/>
          <p:cNvGraphicFramePr>
            <a:graphicFrameLocks noGrp="1"/>
          </p:cNvGraphicFramePr>
          <p:nvPr/>
        </p:nvGraphicFramePr>
        <p:xfrm>
          <a:off x="964933" y="3147033"/>
          <a:ext cx="5842000" cy="1819275"/>
        </p:xfrm>
        <a:graphic>
          <a:graphicData uri="http://schemas.openxmlformats.org/drawingml/2006/table">
            <a:tbl>
              <a:tblPr/>
              <a:tblGrid>
                <a:gridCol w="1853564"/>
                <a:gridCol w="712469"/>
                <a:gridCol w="1145540"/>
                <a:gridCol w="2130425"/>
              </a:tblGrid>
              <a:tr h="2673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010" algn="l" rtl="0" eaLnBrk="0">
                        <a:lnSpc>
                          <a:spcPct val="82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Comparison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2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Flip Rate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469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Weeks Different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469" algn="l" rtl="0" eaLnBrk="0">
                        <a:lnSpc>
                          <a:spcPts val="144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Interpretation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87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7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Rank Sum vs. Percent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Sum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635" algn="l" rtl="0" eaLnBrk="0">
                        <a:lnSpc>
                          <a:spcPts val="144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23.24%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6395" algn="l" rtl="0" eaLnBrk="0">
                        <a:lnSpc>
                          <a:spcPts val="144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56/241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indent="-1905" algn="l" rtl="0" eaLnBrk="0">
                        <a:lnSpc>
                          <a:spcPct val="9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Moderately  s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imilar;   same</a:t>
                      </a: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out-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come 3/4</a:t>
                      </a: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 w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eeks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822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Rank Sum vs. Jud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635" algn="l" rtl="0" eaLnBrk="0">
                        <a:lnSpc>
                          <a:spcPts val="144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28.22%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7029" algn="l" rtl="0" eaLnBrk="0">
                        <a:lnSpc>
                          <a:spcPts val="144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68/241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36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104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Substantia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</a:t>
                      </a: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difference;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Save dive</a:t>
                      </a: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rges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70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Percent Sum vs.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29539" algn="l" rtl="0" eaLnBrk="0">
                        <a:lnSpc>
                          <a:spcPts val="1342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38.17%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6395" algn="l" rtl="0" eaLnBrk="0">
                        <a:lnSpc>
                          <a:spcPts val="1342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92/241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indent="-1270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Very</a:t>
                      </a:r>
                      <a:r>
                        <a:rPr sz="1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different;</a:t>
                      </a:r>
                      <a:r>
                        <a:rPr sz="11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nearly</a:t>
                      </a:r>
                      <a:r>
                        <a:rPr sz="1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2/5</a:t>
                      </a:r>
                      <a:r>
                        <a:rPr sz="1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</a:t>
                      </a: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ks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disagree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38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three rules differ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4460" algn="l" rtl="0" eaLnBrk="0">
                        <a:lnSpc>
                          <a:spcPts val="1341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43.57%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0359" algn="l" rtl="0" eaLnBrk="0">
                        <a:lnSpc>
                          <a:spcPts val="1341"/>
                        </a:lnSpc>
                        <a:tabLst/>
                      </a:pP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105/241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indent="-635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rule sensitivity in contest</a:t>
                      </a: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ed</a:t>
                      </a: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eliminations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8" name="textbox 198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Page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00" name="path 200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2" name="path 202"/>
          <p:cNvSpPr/>
          <p:nvPr/>
        </p:nvSpPr>
        <p:spPr>
          <a:xfrm>
            <a:off x="1329562" y="6580339"/>
            <a:ext cx="219392" cy="6070"/>
          </a:xfrm>
          <a:custGeom>
            <a:avLst/>
            <a:gdLst/>
            <a:ahLst/>
            <a:cxnLst/>
            <a:rect l="0" t="0" r="0" b="0"/>
            <a:pathLst>
              <a:path w="345" h="9">
                <a:moveTo>
                  <a:pt x="0" y="4"/>
                </a:moveTo>
                <a:lnTo>
                  <a:pt x="345" y="4"/>
                </a:lnTo>
              </a:path>
            </a:pathLst>
          </a:custGeom>
          <a:noFill/>
          <a:ln w="607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4" name="path 204"/>
          <p:cNvSpPr/>
          <p:nvPr/>
        </p:nvSpPr>
        <p:spPr>
          <a:xfrm>
            <a:off x="4258322" y="6278918"/>
            <a:ext cx="219392" cy="6070"/>
          </a:xfrm>
          <a:custGeom>
            <a:avLst/>
            <a:gdLst/>
            <a:ahLst/>
            <a:cxnLst/>
            <a:rect l="0" t="0" r="0" b="0"/>
            <a:pathLst>
              <a:path w="345" h="9">
                <a:moveTo>
                  <a:pt x="0" y="4"/>
                </a:moveTo>
                <a:lnTo>
                  <a:pt x="345" y="4"/>
                </a:lnTo>
              </a:path>
            </a:pathLst>
          </a:custGeom>
          <a:noFill/>
          <a:ln w="607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206"/>
          <p:cNvSpPr/>
          <p:nvPr/>
        </p:nvSpPr>
        <p:spPr>
          <a:xfrm>
            <a:off x="903522" y="5787118"/>
            <a:ext cx="5967729" cy="3305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7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98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 7: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Left: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 Favorability Index distributi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 by voting rule (raincloud).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Right: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Mean FFI by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 across rules.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222250" algn="l" rtl="0" eaLnBrk="0">
              <a:lnSpc>
                <a:spcPct val="110000"/>
              </a:lnSpc>
              <a:spcBef>
                <a:spcPts val="336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visualizes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FFI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distributions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seasonal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patterns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derlying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multi-criteria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comparison.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aincloud plot summarizes rule-specific FFI spreads; the season-level plot reveals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temporal variation in stakeholder bias ac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ross competition eras.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5875" algn="l" rtl="0" eaLnBrk="0">
              <a:lnSpc>
                <a:spcPct val="70000"/>
              </a:lnSpc>
              <a:spcBef>
                <a:spcPts val="1153"/>
              </a:spcBef>
              <a:tabLst/>
            </a:pP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6.2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Controversial</a:t>
            </a: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Case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Studies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5240" indent="220979" algn="l" rtl="0" eaLnBrk="0">
              <a:lnSpc>
                <a:spcPct val="103000"/>
              </a:lnSpc>
              <a:spcBef>
                <a:spcPts val="1262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Historical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controversies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provide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empirical tests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rule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sensitivity.  We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conduct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counterfactual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simulations for two canonical cases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catalyzed public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debate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modifications,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applying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our estimated fan vote dis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tributions to alternative voting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schemes.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4604" algn="l" rtl="0" eaLnBrk="0">
              <a:lnSpc>
                <a:spcPct val="82000"/>
              </a:lnSpc>
              <a:spcBef>
                <a:spcPts val="1250"/>
              </a:spcBef>
              <a:tabLst/>
            </a:pPr>
            <a:r>
              <a:rPr sz="11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6.2.1 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Case</a:t>
            </a:r>
            <a:r>
              <a:rPr sz="1100" b="1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1:</a:t>
            </a:r>
            <a:r>
              <a:rPr sz="1100" b="1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Bobby</a:t>
            </a:r>
            <a:r>
              <a:rPr sz="11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Bones</a:t>
            </a:r>
            <a:r>
              <a:rPr sz="11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</a:t>
            </a:r>
            <a:r>
              <a:rPr sz="11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27,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2018)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23520" algn="l" rtl="0" eaLnBrk="0">
              <a:lnSpc>
                <a:spcPct val="110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Bobby Bones, a radio personality wit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 substantial pre-existing fanbase, secured victory despite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consistently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recording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lowest ju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dge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among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top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four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finalists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(average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23.7/30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ver-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competitors’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27.2/30).  His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sparked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widespread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criticism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garding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balance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between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technical merit and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popularity.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891223" y="2452961"/>
            <a:ext cx="5979795" cy="1276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05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35584" algn="l" rtl="0" eaLnBrk="0">
              <a:lnSpc>
                <a:spcPct val="107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Table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results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demonstrate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diver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gent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performance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profiles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across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three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historical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rules.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Rank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exhibits near-neutral Fan Favorability Index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superior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overa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ll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performance,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indicating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optimal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equilibrium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between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stakeholder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influence.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Percent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um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shows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slight judge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bias with moderate balance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scores.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Save produces pronounced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favoritism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jority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eliminations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favoring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preferences,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ulting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lowest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fairness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stability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metrics.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overall evaluation, computed as the geometric mean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the three 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riteria,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identifies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Rank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 the most robust aggregation method under our framewor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10" name="picture 2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4400" y="3892776"/>
            <a:ext cx="2852858" cy="1700760"/>
          </a:xfrm>
          <a:prstGeom prst="rect">
            <a:avLst/>
          </a:prstGeom>
        </p:spPr>
      </p:pic>
      <p:graphicFrame>
        <p:nvGraphicFramePr>
          <p:cNvPr id="212" name="table 212"/>
          <p:cNvGraphicFramePr>
            <a:graphicFrameLocks noGrp="1"/>
          </p:cNvGraphicFramePr>
          <p:nvPr/>
        </p:nvGraphicFramePr>
        <p:xfrm>
          <a:off x="1288783" y="1214690"/>
          <a:ext cx="5194299" cy="902334"/>
        </p:xfrm>
        <a:graphic>
          <a:graphicData uri="http://schemas.openxmlformats.org/drawingml/2006/table">
            <a:tbl>
              <a:tblPr/>
              <a:tblGrid>
                <a:gridCol w="923925"/>
                <a:gridCol w="753744"/>
                <a:gridCol w="1180465"/>
                <a:gridCol w="656590"/>
                <a:gridCol w="643890"/>
                <a:gridCol w="1035685"/>
              </a:tblGrid>
              <a:tr h="2673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Rule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35" algn="l" rtl="0" eaLnBrk="0">
                        <a:lnSpc>
                          <a:spcPct val="6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FFI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7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</a:t>
                      </a:r>
                      <a:r>
                        <a:rPr sz="1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Favored</a:t>
                      </a:r>
                      <a:r>
                        <a:rPr sz="1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(%)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64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Fairness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010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Balance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010" algn="l" rtl="0" eaLnBrk="0">
                        <a:lnSpc>
                          <a:spcPct val="7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Overall Score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Rank</a:t>
                      </a:r>
                      <a:r>
                        <a:rPr sz="11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Sum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7639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+0.034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1009" algn="l" rtl="0" eaLnBrk="0">
                        <a:lnSpc>
                          <a:spcPts val="1376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45.6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3195" algn="l" rtl="0" eaLnBrk="0">
                        <a:lnSpc>
                          <a:spcPts val="1376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0.966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939" algn="l" rtl="0" eaLnBrk="0">
                        <a:lnSpc>
                          <a:spcPts val="1376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0.913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884" algn="l" rtl="0" eaLnBrk="0">
                        <a:lnSpc>
                          <a:spcPct val="7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0.884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835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7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Percent</a:t>
                      </a:r>
                      <a:r>
                        <a:rPr sz="11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Sum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9385" algn="l" rtl="0" eaLnBrk="0">
                        <a:lnSpc>
                          <a:spcPts val="1377"/>
                        </a:lnSpc>
                        <a:tabLst/>
                      </a:pPr>
                      <a:r>
                        <a:rPr sz="11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1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0.046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5455" algn="l" rtl="0" eaLnBrk="0">
                        <a:lnSpc>
                          <a:spcPts val="1377"/>
                        </a:lnSpc>
                        <a:tabLst/>
                      </a:pP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38.6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3195" algn="l" rtl="0" eaLnBrk="0">
                        <a:lnSpc>
                          <a:spcPts val="137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0.954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939" algn="l" rtl="0" eaLnBrk="0">
                        <a:lnSpc>
                          <a:spcPts val="137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0.772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884" algn="l" rtl="0" eaLnBrk="0">
                        <a:lnSpc>
                          <a:spcPts val="137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0.806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55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35" algn="l" rtl="0" eaLnBrk="0">
                        <a:lnSpc>
                          <a:spcPct val="8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7639" algn="l" rtl="0" eaLnBrk="0">
                        <a:lnSpc>
                          <a:spcPts val="144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+0.222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1644" algn="l" rtl="0" eaLnBrk="0">
                        <a:lnSpc>
                          <a:spcPts val="144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70.5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3195" algn="l" rtl="0" eaLnBrk="0">
                        <a:lnSpc>
                          <a:spcPts val="144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0.778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939" algn="l" rtl="0" eaLnBrk="0">
                        <a:lnSpc>
                          <a:spcPts val="144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0.589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884" algn="l" rtl="0" eaLnBrk="0">
                        <a:lnSpc>
                          <a:spcPts val="144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0.710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14" name="picture 2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967137" y="4370892"/>
            <a:ext cx="2852836" cy="1222644"/>
          </a:xfrm>
          <a:prstGeom prst="rect">
            <a:avLst/>
          </a:prstGeom>
        </p:spPr>
      </p:pic>
      <p:sp>
        <p:nvSpPr>
          <p:cNvPr id="216" name="textbox 216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Page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1728003" y="1052773"/>
            <a:ext cx="4319270" cy="163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Table 4: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Multi-criteria evaluati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 of voting rules based on FFI analysis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0" name="path 220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box 222"/>
          <p:cNvSpPr/>
          <p:nvPr/>
        </p:nvSpPr>
        <p:spPr>
          <a:xfrm>
            <a:off x="904129" y="3370282"/>
            <a:ext cx="5967729" cy="2318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24790" algn="l" rtl="0" eaLnBrk="0">
              <a:lnSpc>
                <a:spcPct val="104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Counterfactual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reveals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Percent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would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have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narrowly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prevented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victory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(2nd place), while Judge Save’s bot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tom-two mechanism would have triggered elimination in Week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when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consistently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ranked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him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lowest.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case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demonstrates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aggregation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rules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mediate the tension between democratic popularity and expert ev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aluation—Rank Sum’s symmetry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amplifies fan influence, while Judge Sav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 institutionalizes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veto power.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970" algn="l" rtl="0" eaLnBrk="0">
              <a:lnSpc>
                <a:spcPct val="82000"/>
              </a:lnSpc>
              <a:spcBef>
                <a:spcPts val="1326"/>
              </a:spcBef>
              <a:tabLst/>
            </a:pPr>
            <a:r>
              <a:rPr sz="11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6.2.2 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Case</a:t>
            </a:r>
            <a:r>
              <a:rPr sz="11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2:</a:t>
            </a:r>
            <a:r>
              <a:rPr sz="1100" b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Jerry</a:t>
            </a:r>
            <a:r>
              <a:rPr sz="11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Rice</a:t>
            </a:r>
            <a:r>
              <a:rPr sz="11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</a:t>
            </a:r>
            <a:r>
              <a:rPr sz="11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2</a:t>
            </a:r>
            <a:r>
              <a:rPr sz="1100" b="1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2006)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4604" indent="219709" algn="l" rtl="0" eaLnBrk="0">
              <a:lnSpc>
                <a:spcPct val="103000"/>
              </a:lnSpc>
              <a:spcBef>
                <a:spcPts val="1218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NFL legend Jerry Rice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advanced to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finals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despite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occupying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last place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 judge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five consecutive weeks (Weeks 4–8, av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erage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19.6/30), prompting producers to abandon Rank Sum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after Season 2.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His sustained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survival exemplified pure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fan-driven retention.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612775" algn="l" rtl="0" eaLnBrk="0">
              <a:lnSpc>
                <a:spcPct val="83000"/>
              </a:lnSpc>
              <a:spcBef>
                <a:spcPts val="1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Table 6: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Counterfactual outcomes for Jer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ry Rice under alternative voting rules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24" name="table 224"/>
          <p:cNvGraphicFramePr>
            <a:graphicFrameLocks noGrp="1"/>
          </p:cNvGraphicFramePr>
          <p:nvPr/>
        </p:nvGraphicFramePr>
        <p:xfrm>
          <a:off x="914400" y="1214690"/>
          <a:ext cx="6298564" cy="1819275"/>
        </p:xfrm>
        <a:graphic>
          <a:graphicData uri="http://schemas.openxmlformats.org/drawingml/2006/table">
            <a:tbl>
              <a:tblPr/>
              <a:tblGrid>
                <a:gridCol w="1781175"/>
                <a:gridCol w="1137919"/>
                <a:gridCol w="1242695"/>
                <a:gridCol w="2136775"/>
              </a:tblGrid>
              <a:tr h="2673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Voting Rule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010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Final Placeme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nt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35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Eliminati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 Week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Outcome Analysis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87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Actual (Rank+Judg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Save)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9545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11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sz="1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</a:t>
                      </a:r>
                      <a:r>
                        <a:rPr sz="11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sz="1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Winner</a:t>
                      </a:r>
                      <a:r>
                        <a:rPr sz="11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5469" algn="l" rtl="0" eaLnBrk="0">
                        <a:lnSpc>
                          <a:spcPts val="343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–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 mobiliz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ation overcame tech-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nical def</a:t>
                      </a: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icit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Rank Sum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Only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8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7840" algn="l" rtl="0" eaLnBrk="0">
                        <a:lnSpc>
                          <a:spcPts val="144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1st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5469" algn="l" rtl="0" eaLnBrk="0">
                        <a:lnSpc>
                          <a:spcPts val="343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–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72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110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Identical</a:t>
                      </a:r>
                      <a:r>
                        <a:rPr sz="11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outcom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e;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</a:t>
                      </a:r>
                      <a:r>
                        <a:rPr sz="11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domi-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nance persists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70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Percent</a:t>
                      </a:r>
                      <a:r>
                        <a:rPr sz="11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Sum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60375" algn="l" rtl="0" eaLnBrk="0">
                        <a:lnSpc>
                          <a:spcPts val="1342"/>
                        </a:lnSpc>
                        <a:tabLst/>
                      </a:pPr>
                      <a:r>
                        <a:rPr sz="11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nd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9419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Finals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indent="12700" algn="l" rtl="0" eaLnBrk="0">
                        <a:lnSpc>
                          <a:spcPct val="106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Reduced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runner-up;</a:t>
                      </a:r>
                      <a:r>
                        <a:rPr sz="11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better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judge-fan balance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38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35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4344" algn="l" rtl="0" eaLnBrk="0">
                        <a:lnSpc>
                          <a:spcPts val="1341"/>
                        </a:lnSpc>
                        <a:tabLst/>
                      </a:pPr>
                      <a:r>
                        <a:rPr sz="11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6240" algn="l" rtl="0" eaLnBrk="0">
                        <a:lnSpc>
                          <a:spcPct val="7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Early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elimination</a:t>
                      </a:r>
                      <a:r>
                        <a:rPr sz="1100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via</a:t>
                      </a:r>
                      <a:r>
                        <a:rPr sz="11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</a:t>
                      </a:r>
                      <a:r>
                        <a:rPr sz="1100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n-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tervention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26" name="table 226"/>
          <p:cNvGraphicFramePr>
            <a:graphicFrameLocks noGrp="1"/>
          </p:cNvGraphicFramePr>
          <p:nvPr/>
        </p:nvGraphicFramePr>
        <p:xfrm>
          <a:off x="962355" y="5686730"/>
          <a:ext cx="5847079" cy="1819275"/>
        </p:xfrm>
        <a:graphic>
          <a:graphicData uri="http://schemas.openxmlformats.org/drawingml/2006/table">
            <a:tbl>
              <a:tblPr/>
              <a:tblGrid>
                <a:gridCol w="1329689"/>
                <a:gridCol w="1137919"/>
                <a:gridCol w="1248410"/>
                <a:gridCol w="2131060"/>
              </a:tblGrid>
              <a:tr h="2673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Voting Rule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64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Final Placeme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nt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35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Eliminati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 Week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644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Outcome Analysis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87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7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Actual (Rank</a:t>
                      </a: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Sum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104" algn="l" rtl="0" eaLnBrk="0">
                        <a:lnSpc>
                          <a:spcPct val="7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nd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Finals</a:t>
                      </a:r>
                      <a:r>
                        <a:rPr sz="11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5469" algn="l" rtl="0" eaLnBrk="0">
                        <a:lnSpc>
                          <a:spcPts val="343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–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indent="-1905" algn="l" rtl="0" eaLnBrk="0">
                        <a:lnSpc>
                          <a:spcPct val="9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   loya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lty   sustained   despite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consistent low</a:t>
                      </a:r>
                      <a:r>
                        <a:rPr sz="11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scores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7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Rank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Sum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0375" algn="l" rtl="0" eaLnBrk="0">
                        <a:lnSpc>
                          <a:spcPts val="1440"/>
                        </a:lnSpc>
                        <a:tabLst/>
                      </a:pPr>
                      <a:r>
                        <a:rPr sz="11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nd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5469" algn="l" rtl="0" eaLnBrk="0">
                        <a:lnSpc>
                          <a:spcPts val="343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–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indent="1270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Replicated</a:t>
                      </a:r>
                      <a:r>
                        <a:rPr sz="11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outcome</a:t>
                      </a:r>
                      <a:r>
                        <a:rPr sz="11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under</a:t>
                      </a:r>
                      <a:r>
                        <a:rPr sz="11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rule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2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Percent</a:t>
                      </a:r>
                      <a:r>
                        <a:rPr sz="11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Sum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21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1440"/>
                        </a:lnSpc>
                        <a:tabLst/>
                      </a:pP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6240" algn="l" rtl="0" eaLnBrk="0">
                        <a:lnSpc>
                          <a:spcPct val="72000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890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indent="-1905" algn="l" rtl="0" eaLnBrk="0">
                        <a:lnSpc>
                          <a:spcPct val="110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Mid-season</a:t>
                      </a:r>
                      <a:r>
                        <a:rPr sz="1100" kern="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elimination;</a:t>
                      </a:r>
                      <a:r>
                        <a:rPr sz="1100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judges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gain weight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38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35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5615" algn="l" rtl="0" eaLnBrk="0">
                        <a:lnSpc>
                          <a:spcPts val="1341"/>
                        </a:lnSpc>
                        <a:tabLst/>
                      </a:pP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6240" algn="l" rtl="0" eaLnBrk="0">
                        <a:lnSpc>
                          <a:spcPct val="7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7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indent="-63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Earliest</a:t>
                      </a: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exit;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udges</a:t>
                      </a: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exercise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veto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8" name="textbox 228"/>
          <p:cNvSpPr/>
          <p:nvPr/>
        </p:nvSpPr>
        <p:spPr>
          <a:xfrm>
            <a:off x="902155" y="7842308"/>
            <a:ext cx="5969000" cy="13582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24154" algn="l" rtl="0" eaLnBrk="0">
              <a:lnSpc>
                <a:spcPct val="105000"/>
              </a:lnSpc>
              <a:spcBef>
                <a:spcPts val="1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Percent Sum—adopted from Season 3 onward—would have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eliminated Rice in Week 8 by am-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plifying</a:t>
            </a:r>
            <a:r>
              <a:rPr sz="1100" kern="0" spc="-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judges’ proportional influence.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 validates the producers’ strategic adjustment: the rule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change was specifically designed to prevent recurre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nce of expert-amateur divergence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scale.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6-week survival gap between actual and Percent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outcomes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∆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weeks)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quantifies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regulatory impact of the 2006 ru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 reform.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224790" algn="l" rtl="0" eaLnBrk="0">
              <a:lnSpc>
                <a:spcPct val="104000"/>
              </a:lnSpc>
              <a:spcBef>
                <a:spcPts val="5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These cases illustrate a fundamental trade-off: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Rank Sum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maximizes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democratic partic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ipation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but risks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elevating popularity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over craft maste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ry,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while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Save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prioritizes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technical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standards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Page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13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1403391" y="1052014"/>
            <a:ext cx="4968875" cy="164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Table 5: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Counterfactual outcomes for Bobby Bones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under alternative voting rules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4" name="path 234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box 236"/>
          <p:cNvSpPr/>
          <p:nvPr/>
        </p:nvSpPr>
        <p:spPr>
          <a:xfrm>
            <a:off x="902155" y="938547"/>
            <a:ext cx="5969000" cy="292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111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but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may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disenfranchise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audience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preferences.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persistent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controversy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surrounding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both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tremes motivates our design of a balanced hybrid system in 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ection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8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7145" algn="l" rtl="0" eaLnBrk="0">
              <a:lnSpc>
                <a:spcPct val="78000"/>
              </a:lnSpc>
              <a:spcBef>
                <a:spcPts val="1143"/>
              </a:spcBef>
              <a:tabLst/>
            </a:pP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6.3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Cross</a:t>
            </a: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Rule</a:t>
            </a: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Comparison</a:t>
            </a: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Implications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3970" indent="223520" algn="l" rtl="0" eaLnBrk="0">
              <a:lnSpc>
                <a:spcPct val="106000"/>
              </a:lnSpc>
              <a:spcBef>
                <a:spcPts val="1135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comparative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veals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structural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tension: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single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existing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rule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simultaneously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optimizes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fairness,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balance,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stability.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ank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Sum’s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symmetric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treatment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inputs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produces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near-neutral outcomes, while Judge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Save’s bottom-two mechanism paradoxically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am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plifies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rather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corrects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influence.  The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counterfa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ctual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simulations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confirm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Bobby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Bones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Jerry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Rice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represent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systematic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vulnerabilities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inherent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fan-weight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ed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aggregation—popularity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systematically override technical merit when vote dis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tributions are asymmetric.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970" indent="222250" algn="l" rtl="0" eaLnBrk="0">
              <a:lnSpc>
                <a:spcPct val="110000"/>
              </a:lnSpc>
              <a:spcBef>
                <a:spcPts val="2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8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tracks temporal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ivity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via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season-level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flip rates.  The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elevated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volatility in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sons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2–5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27–30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coincides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troversial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cases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analyzed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above,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suggesting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rule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sensitivity peaks durin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 periods of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high fan-judge divergence.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 motivates the need for adaptive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mechanisms that dynamically adjust stakeholder weights based on ob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served performance distribu-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tions, which we develop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in the following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section.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891224" y="5921090"/>
            <a:ext cx="5979795" cy="2845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1459" algn="l" rtl="0" eaLnBrk="0">
              <a:lnSpc>
                <a:spcPct val="82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 8: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Flip rate evolution across seaso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ns, revealing temporal patterns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rule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sensitivity.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ct val="70000"/>
              </a:lnSpc>
              <a:spcBef>
                <a:spcPts val="512"/>
              </a:spcBef>
              <a:tabLst/>
            </a:pP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   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Problem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3:</a:t>
            </a:r>
            <a:r>
              <a:rPr sz="1700" b="1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Determinants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Success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25400" indent="222250" algn="l" rtl="0" eaLnBrk="0">
              <a:lnSpc>
                <a:spcPct val="105000"/>
              </a:lnSpc>
              <a:spcBef>
                <a:spcPts val="1245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Understanding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what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drives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success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DWTS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requires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distinguishing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betwe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 judge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value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systems.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controversy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cases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analyzed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earl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ier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suggest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systematic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divergence: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 re-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ward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technical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execution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while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respond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charisma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loyalty.  To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quantify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these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compet-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value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structures,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require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metho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dology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separately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each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stakeholder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group’s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decision-making process while maintaining comparable feature 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paces.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indent="233679" algn="l" rtl="0" eaLnBrk="0">
              <a:lnSpc>
                <a:spcPct val="110000"/>
              </a:lnSpc>
              <a:spcBef>
                <a:spcPts val="1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propose a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Twin Random Forest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] framew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ork consisting of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two parallel ensemble models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trained on ident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ical feature sets but different target variables.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200" kern="0" spc="30" baseline="-13022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predicts fan vote proxies,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capturing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audience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preferences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independent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technical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scores.  Model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200" kern="0" spc="40" baseline="-13022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redicts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observed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scores, isolating expert evalu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ation criteria.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By training on the same input features—temporal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dynamics, performance trajectories, demographics, and partner quality—the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twin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architecture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ables direct comparison of feature importance rankings across stakeholder g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roups.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40" name="picture 2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846415" y="4018667"/>
            <a:ext cx="4041733" cy="1708842"/>
          </a:xfrm>
          <a:prstGeom prst="rect">
            <a:avLst/>
          </a:prstGeom>
        </p:spPr>
      </p:pic>
      <p:sp>
        <p:nvSpPr>
          <p:cNvPr id="242" name="textbox 242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Page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14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44" name="path 244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picture 2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084120" y="4817586"/>
            <a:ext cx="3566330" cy="3031280"/>
          </a:xfrm>
          <a:prstGeom prst="rect">
            <a:avLst/>
          </a:prstGeom>
        </p:spPr>
      </p:pic>
      <p:sp>
        <p:nvSpPr>
          <p:cNvPr id="248" name="textbox 248"/>
          <p:cNvSpPr/>
          <p:nvPr/>
        </p:nvSpPr>
        <p:spPr>
          <a:xfrm>
            <a:off x="902459" y="3077900"/>
            <a:ext cx="5969000" cy="1601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6200" algn="l" rtl="0" eaLnBrk="0">
              <a:lnSpc>
                <a:spcPts val="1507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 9: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Twin Random Forest architecture: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parallel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200" kern="0" spc="40" baseline="5889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nd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200" kern="0" spc="30" baseline="5889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models on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shared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indent="224790" algn="l" rtl="0" eaLnBrk="0">
              <a:lnSpc>
                <a:spcPct val="106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Before constructing the twin models, we examine the cor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relation structure of our feature space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using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Spearman’s rank correlation coefficient.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Unlike Pearson correl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ation,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which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measures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linear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relationships,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Spearman’s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ρ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captures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monotonic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assoc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iations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by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computing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correlation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rank-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transformed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data,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making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it robust to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outliers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appropriate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ordinal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variables.  We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compute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pairwise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Spearman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coefficients between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all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features,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vote proxies,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judge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 to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assess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multicollinearity and validate th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 twin-model strategy.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0" name="textbox 250"/>
          <p:cNvSpPr/>
          <p:nvPr/>
        </p:nvSpPr>
        <p:spPr>
          <a:xfrm>
            <a:off x="903673" y="8005856"/>
            <a:ext cx="5967095" cy="1222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10565" algn="l" rtl="0" eaLnBrk="0">
              <a:lnSpc>
                <a:spcPts val="144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 correlation structure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justifying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twin-model architecture.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indent="222250" algn="l" rtl="0" eaLnBrk="0">
              <a:lnSpc>
                <a:spcPct val="110000"/>
              </a:lnSpc>
              <a:spcBef>
                <a:spcPts val="1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10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reveals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correlation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landscape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underl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ying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our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modeling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strategy.  Judge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evaluations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exhibit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moderate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positive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correlatio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n,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indicating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partial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but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incomplete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alignment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their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assessments.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More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vealing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are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differential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correlations:  age  shows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substantial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neg-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ative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association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 judge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while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temporal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progression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rongly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predicts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support—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52" name="picture 2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81326" y="939698"/>
            <a:ext cx="2971799" cy="1981200"/>
          </a:xfrm>
          <a:prstGeom prst="rect">
            <a:avLst/>
          </a:prstGeom>
        </p:spPr>
      </p:pic>
      <p:sp>
        <p:nvSpPr>
          <p:cNvPr id="254" name="textbox 254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Page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56" name="path 256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258"/>
          <p:cNvSpPr/>
          <p:nvPr/>
        </p:nvSpPr>
        <p:spPr>
          <a:xfrm>
            <a:off x="902459" y="938547"/>
            <a:ext cx="5969000" cy="3369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indent="1270" algn="l" rtl="0" eaLnBrk="0">
              <a:lnSpc>
                <a:spcPct val="110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confirming that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 penalize older contestants for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declining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athleti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cism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while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reward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sus-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tained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engagement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through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cumulative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loyalty.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These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divergent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correlation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patterns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validate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necessity of separate predictive models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rather than a unified framework.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4604" algn="l" rtl="0" eaLnBrk="0">
              <a:lnSpc>
                <a:spcPct val="78000"/>
              </a:lnSpc>
              <a:spcBef>
                <a:spcPts val="1165"/>
              </a:spcBef>
              <a:tabLst/>
            </a:pP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7.1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Differential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Importance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indent="224790" algn="l" rtl="0" eaLnBrk="0">
              <a:lnSpc>
                <a:spcPct val="106000"/>
              </a:lnSpc>
              <a:spcBef>
                <a:spcPts val="1135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Random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Forest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models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quantify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importance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through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mean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decrease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impurity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measuring how m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uch each feature reduces prediction uncertainty when used for splitting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decisions.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By comparing importance rankings between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200" kern="0" spc="40" baseline="-13022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200" kern="0" spc="40" baseline="-13022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7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we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can identify which attributes dis-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proportionately influence one stakeholder group over th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 other.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If</a:t>
            </a:r>
            <a:r>
              <a:rPr sz="1100" kern="0" spc="-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 and fans valued the same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attributes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equally,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their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importance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vectors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would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identical.  Divergence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these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rankings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veals systematic prefere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nce differences.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indent="222884" algn="l" rtl="0" eaLnBrk="0">
              <a:lnSpc>
                <a:spcPct val="106000"/>
              </a:lnSpc>
              <a:spcBef>
                <a:spcPts val="904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extract feature importance scores from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trained models and compute the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difference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∆ =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200" kern="0" spc="50" baseline="3472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200" kern="0" spc="50" baseline="3472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7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 each feature. Positive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∆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indicates fan-dominant feat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ures; negative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∆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signals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dominant features.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 comparative framework isolates 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dimensions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along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which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stakeholder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preferences diverg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 most sharply.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7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840105" algn="l" rtl="0" eaLnBrk="0">
              <a:lnSpc>
                <a:spcPct val="82000"/>
              </a:lnSpc>
              <a:spcBef>
                <a:spcPts val="2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Table 7: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 importance divergence between fan and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udge models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902458" y="6278443"/>
            <a:ext cx="5968365" cy="2907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24790" algn="l" rtl="0" eaLnBrk="0">
              <a:lnSpc>
                <a:spcPct val="101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table reveals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stark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asymmetry: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temporal progression dominates fan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decision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while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nical performance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dominates judge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evaluations.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quantify the magnitude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this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technical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skill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preference gap, we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define the Technical Bias Coefficient: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09495" algn="l" rtl="0" eaLnBrk="0">
              <a:lnSpc>
                <a:spcPts val="3491"/>
              </a:lnSpc>
              <a:spcBef>
                <a:spcPts val="309"/>
              </a:spcBef>
              <a:tabLst>
                <a:tab pos="595502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364"/>
              </a:lnSpc>
              <a:spcBef>
                <a:spcPts val="1119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where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     </a:t>
            </a:r>
            <a:r>
              <a:rPr sz="1200" kern="0" spc="40" baseline="49557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   </a:t>
            </a:r>
            <a:r>
              <a:rPr sz="1200" kern="0" spc="40" baseline="-11212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denote the feature impor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tance assigned to technical performance by each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970" algn="l" rtl="0" eaLnBrk="0">
              <a:lnSpc>
                <a:spcPct val="107000"/>
              </a:lnSpc>
              <a:spcBef>
                <a:spcPts val="171"/>
              </a:spcBef>
              <a:tabLst/>
            </a:pP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model.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 normalize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 difference ranges from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(pure fan bias) to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+1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(pure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bias),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indicating equal we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ighting.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indent="224154" algn="l" rtl="0" eaLnBrk="0">
              <a:lnSpc>
                <a:spcPct val="110000"/>
              </a:lnSpc>
              <a:spcBef>
                <a:spcPts val="2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Applying this metric to our models yields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TBC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 0.622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indicating that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 assi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gn propor-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tionally greater emphasis to technic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 execution compared to fans.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Notably, despite this magnitude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difference,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Spearman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rank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correlation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between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importance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vectors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emains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high,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suggesting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 both groups recognize similar determinants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but apply drastically different weightings—judges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prioritize skill mastery while fans weight cumu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lative engagement.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62" name="picture 2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88233" y="7602456"/>
            <a:ext cx="52919" cy="177130"/>
          </a:xfrm>
          <a:prstGeom prst="rect">
            <a:avLst/>
          </a:prstGeom>
        </p:spPr>
      </p:pic>
      <p:sp>
        <p:nvSpPr>
          <p:cNvPr id="264" name="textbox 264"/>
          <p:cNvSpPr/>
          <p:nvPr/>
        </p:nvSpPr>
        <p:spPr>
          <a:xfrm>
            <a:off x="2236096" y="7721937"/>
            <a:ext cx="67944" cy="78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11"/>
              </a:lnSpc>
              <a:tabLst/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</a:t>
            </a:r>
            <a:endParaRPr sz="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2242886" y="7634227"/>
            <a:ext cx="66675" cy="78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11"/>
              </a:lnSpc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endParaRPr sz="7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68" name="picture 2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06144" y="7602456"/>
            <a:ext cx="45530" cy="177130"/>
          </a:xfrm>
          <a:prstGeom prst="rect">
            <a:avLst/>
          </a:prstGeom>
        </p:spPr>
      </p:pic>
      <p:sp>
        <p:nvSpPr>
          <p:cNvPr id="270" name="textbox 270"/>
          <p:cNvSpPr/>
          <p:nvPr/>
        </p:nvSpPr>
        <p:spPr>
          <a:xfrm>
            <a:off x="1731619" y="7677467"/>
            <a:ext cx="104139" cy="140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8000"/>
              </a:lnSpc>
              <a:tabLst/>
            </a:pP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</a:t>
            </a:r>
            <a:endParaRPr sz="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1719814" y="7634226"/>
            <a:ext cx="73660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47"/>
              </a:lnSpc>
              <a:tabLst/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</a:t>
            </a:r>
            <a:endParaRPr sz="7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74" name="picture 2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71632" y="7602456"/>
            <a:ext cx="54045" cy="177130"/>
          </a:xfrm>
          <a:prstGeom prst="rect">
            <a:avLst/>
          </a:prstGeom>
        </p:spPr>
      </p:pic>
      <p:pic>
        <p:nvPicPr>
          <p:cNvPr id="276" name="picture 2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25369" y="7602456"/>
            <a:ext cx="49699" cy="177130"/>
          </a:xfrm>
          <a:prstGeom prst="rect">
            <a:avLst/>
          </a:prstGeom>
        </p:spPr>
      </p:pic>
      <p:pic>
        <p:nvPicPr>
          <p:cNvPr id="278" name="picture 2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89334" y="7602456"/>
            <a:ext cx="35123" cy="177130"/>
          </a:xfrm>
          <a:prstGeom prst="rect">
            <a:avLst/>
          </a:prstGeom>
        </p:spPr>
      </p:pic>
      <p:pic>
        <p:nvPicPr>
          <p:cNvPr id="280" name="picture 2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211956" y="7024707"/>
            <a:ext cx="3646047" cy="443458"/>
          </a:xfrm>
          <a:prstGeom prst="rect">
            <a:avLst/>
          </a:prstGeom>
        </p:spPr>
      </p:pic>
      <p:graphicFrame>
        <p:nvGraphicFramePr>
          <p:cNvPr id="282" name="table 282"/>
          <p:cNvGraphicFramePr>
            <a:graphicFrameLocks noGrp="1"/>
          </p:cNvGraphicFramePr>
          <p:nvPr/>
        </p:nvGraphicFramePr>
        <p:xfrm>
          <a:off x="914400" y="4306316"/>
          <a:ext cx="6022975" cy="1635759"/>
        </p:xfrm>
        <a:graphic>
          <a:graphicData uri="http://schemas.openxmlformats.org/drawingml/2006/table">
            <a:tbl>
              <a:tblPr/>
              <a:tblGrid>
                <a:gridCol w="1968500"/>
                <a:gridCol w="815975"/>
                <a:gridCol w="942975"/>
                <a:gridCol w="1107439"/>
                <a:gridCol w="1188085"/>
              </a:tblGrid>
              <a:tr h="2673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469" algn="l" rtl="0" eaLnBrk="0">
                        <a:lnSpc>
                          <a:spcPct val="6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Feature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 Model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 Model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∆ 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(Fan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Judge)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82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Dominant Group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2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010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week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3840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0.639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3529" algn="l" rtl="0" eaLnBrk="0">
                        <a:lnSpc>
                          <a:spcPts val="137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0.067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5440" algn="l" rtl="0" eaLnBrk="0">
                        <a:lnSpc>
                          <a:spcPct val="7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+0.572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6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87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relative_judge_score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1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3840" algn="l" rtl="0" eaLnBrk="0">
                        <a:lnSpc>
                          <a:spcPts val="144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0.197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3529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0.846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7184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11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1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0.650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644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16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05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1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celebrity_age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43840" algn="l" rtl="0" eaLnBrk="0">
                        <a:lnSpc>
                          <a:spcPts val="1343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0.051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03529" algn="l" rtl="0" eaLnBrk="0">
                        <a:lnSpc>
                          <a:spcPts val="1343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0.027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5440" algn="l" rtl="0" eaLnBrk="0">
                        <a:lnSpc>
                          <a:spcPts val="1343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+0.025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6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35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27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1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partner_avg_pl</a:t>
                      </a:r>
                      <a:r>
                        <a:rPr sz="11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ace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43840" algn="l" rtl="0" eaLnBrk="0">
                        <a:lnSpc>
                          <a:spcPts val="135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0.040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03529" algn="l" rtl="0" eaLnBrk="0">
                        <a:lnSpc>
                          <a:spcPts val="135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0.020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5440" algn="l" rtl="0" eaLnBrk="0">
                        <a:lnSpc>
                          <a:spcPts val="135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+0.020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6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35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22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1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partner_experi</a:t>
                      </a:r>
                      <a:r>
                        <a:rPr sz="11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ence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43840" algn="l" rtl="0" eaLnBrk="0">
                        <a:lnSpc>
                          <a:spcPts val="135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0.038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03529" algn="l" rtl="0" eaLnBrk="0">
                        <a:lnSpc>
                          <a:spcPts val="135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0.021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5440" algn="l" rtl="0" eaLnBrk="0">
                        <a:lnSpc>
                          <a:spcPts val="135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+0.017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6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35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196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1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partner_win_r</a:t>
                      </a:r>
                      <a:r>
                        <a:rPr sz="11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ate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43840" algn="l" rtl="0" eaLnBrk="0">
                        <a:lnSpc>
                          <a:spcPts val="1356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0.019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03529" algn="l" rtl="0" eaLnBrk="0">
                        <a:lnSpc>
                          <a:spcPts val="1356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0.011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5440" algn="l" rtl="0" eaLnBrk="0">
                        <a:lnSpc>
                          <a:spcPts val="1356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+0.008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6900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162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1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celebrity_industry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3840" algn="l" rtl="0" eaLnBrk="0">
                        <a:lnSpc>
                          <a:spcPts val="1356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0.017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03529" algn="l" rtl="0" eaLnBrk="0">
                        <a:lnSpc>
                          <a:spcPts val="1356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0.009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5440" algn="l" rtl="0" eaLnBrk="0">
                        <a:lnSpc>
                          <a:spcPts val="1356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+0.008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6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4" name="textbox 284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Page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8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8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86" name="path 286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46415" y="2702794"/>
            <a:ext cx="4041780" cy="2835383"/>
          </a:xfrm>
          <a:prstGeom prst="rect">
            <a:avLst/>
          </a:prstGeom>
        </p:spPr>
      </p:pic>
      <p:sp>
        <p:nvSpPr>
          <p:cNvPr id="290" name="textbox 290"/>
          <p:cNvSpPr/>
          <p:nvPr/>
        </p:nvSpPr>
        <p:spPr>
          <a:xfrm>
            <a:off x="891223" y="952759"/>
            <a:ext cx="5979795" cy="1586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034" algn="l" rtl="0" eaLnBrk="0">
              <a:lnSpc>
                <a:spcPct val="78000"/>
              </a:lnSpc>
              <a:tabLst/>
            </a:pP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7.2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Nonlinear</a:t>
            </a: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Effects</a:t>
            </a: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via</a:t>
            </a: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SHAP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239395" algn="l" rtl="0" eaLnBrk="0">
              <a:lnSpc>
                <a:spcPct val="110000"/>
              </a:lnSpc>
              <a:spcBef>
                <a:spcPts val="5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SHAP[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3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4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]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value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decomposition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reveals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three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critical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nlinear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patterns.  First,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age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exhibits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threshold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effect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40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years:  contestants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under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40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receive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SHAP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contributions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+0.17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(fan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advantage),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while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those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over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40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face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penalties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averaging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.33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Second,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partner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produces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substantial carry effects, with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SHAP values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spanning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0.7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28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+0.760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correlation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ρ =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0.31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 placement—translating to approximately 2.3 rank improvement for to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p-tier partners.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Third,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temporal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dynamics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dominate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decisions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(63.9%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importance)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but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minimal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ly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influence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 (6.7%), reflecting cumulative loyalty versus weekly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technical assessment.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92" name="picture 2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886200" y="6247934"/>
            <a:ext cx="2852956" cy="1989615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95337" y="6276387"/>
            <a:ext cx="2852843" cy="1961163"/>
          </a:xfrm>
          <a:prstGeom prst="rect">
            <a:avLst/>
          </a:prstGeom>
        </p:spPr>
      </p:pic>
      <p:sp>
        <p:nvSpPr>
          <p:cNvPr id="296" name="textbox 296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Page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17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98" name="textbox 298"/>
          <p:cNvSpPr/>
          <p:nvPr/>
        </p:nvSpPr>
        <p:spPr>
          <a:xfrm>
            <a:off x="1355946" y="8431131"/>
            <a:ext cx="5062854" cy="163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Nonlinear dependence: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age threshold (left)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temporal loyalty (right).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0" name="textbox 300"/>
          <p:cNvSpPr/>
          <p:nvPr/>
        </p:nvSpPr>
        <p:spPr>
          <a:xfrm>
            <a:off x="2240196" y="5731758"/>
            <a:ext cx="3294379" cy="163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11: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SHAP feature contrib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ution decomposition.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2" name="path 302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box 304"/>
          <p:cNvSpPr/>
          <p:nvPr/>
        </p:nvSpPr>
        <p:spPr>
          <a:xfrm>
            <a:off x="902459" y="6509329"/>
            <a:ext cx="5968365" cy="271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85825" algn="l" rtl="0" eaLnBrk="0">
              <a:lnSpc>
                <a:spcPct val="82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13: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Industry preference dive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rgence across stakeholder groups.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6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indent="223520" algn="l" rtl="0" eaLnBrk="0">
              <a:lnSpc>
                <a:spcPct val="110000"/>
              </a:lnSpc>
              <a:spcBef>
                <a:spcPts val="330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Reality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TV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contestants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leverage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pre-existing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nbases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social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media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networks,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generating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substantial net fan bias, while actors benefit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theatrical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express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iveness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valued by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judges.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42-percentage-point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swing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between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extremes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demonstrates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tic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industry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effects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indepen-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dent of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performance qualit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4604" algn="l" rtl="0" eaLnBrk="0">
              <a:lnSpc>
                <a:spcPct val="78000"/>
              </a:lnSpc>
              <a:spcBef>
                <a:spcPts val="1140"/>
              </a:spcBef>
              <a:tabLst/>
            </a:pP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7.4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Contestant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Archetype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Classification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227329" algn="l" rtl="0" eaLnBrk="0">
              <a:lnSpc>
                <a:spcPct val="110000"/>
              </a:lnSpc>
              <a:spcBef>
                <a:spcPts val="2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K-Means clustering (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 4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on standardized</a:t>
            </a:r>
            <a:r>
              <a:rPr sz="1100" kern="0" spc="-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judge-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 coordinates identifies four distinct com-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petitive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archetypes.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i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Superstars</a:t>
            </a:r>
            <a:r>
              <a:rPr sz="1100" i="1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(39.0%,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164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excel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both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dimensions,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achieving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median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placement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3.0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9.0-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survival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i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Technical</a:t>
            </a:r>
            <a:r>
              <a:rPr sz="1100" i="1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i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Giants</a:t>
            </a:r>
            <a:r>
              <a:rPr sz="1100" i="1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(21.4%,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90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record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high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 but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low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engagement,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exemplified by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Sabrina Br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yan’s Week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elimination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despite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sistent technical excellence.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i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i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Favorites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(3.6%,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 =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constitute the controversy cluster—low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technical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paired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high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mobilization—including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Bobby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Bones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(S27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winner),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Jerry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06" name="picture 3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32723" y="3694343"/>
            <a:ext cx="3269030" cy="2621391"/>
          </a:xfrm>
          <a:prstGeom prst="rect">
            <a:avLst/>
          </a:prstGeom>
        </p:spPr>
      </p:pic>
      <p:graphicFrame>
        <p:nvGraphicFramePr>
          <p:cNvPr id="308" name="table 308"/>
          <p:cNvGraphicFramePr>
            <a:graphicFrameLocks noGrp="1"/>
          </p:cNvGraphicFramePr>
          <p:nvPr/>
        </p:nvGraphicFramePr>
        <p:xfrm>
          <a:off x="1671535" y="1592846"/>
          <a:ext cx="4429125" cy="1085215"/>
        </p:xfrm>
        <a:graphic>
          <a:graphicData uri="http://schemas.openxmlformats.org/drawingml/2006/table">
            <a:tbl>
              <a:tblPr/>
              <a:tblGrid>
                <a:gridCol w="1122045"/>
                <a:gridCol w="367665"/>
                <a:gridCol w="1066800"/>
                <a:gridCol w="1193164"/>
                <a:gridCol w="679450"/>
              </a:tblGrid>
              <a:tr h="2673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ts val="144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Industry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335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644" algn="l" rtl="0" eaLnBrk="0">
                        <a:lnSpc>
                          <a:spcPct val="7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 Prefer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ence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469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 Preferen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 Bias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5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Reality TV</a:t>
                      </a:r>
                      <a:r>
                        <a:rPr sz="11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Star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20" algn="l" rtl="0" eaLnBrk="0">
                        <a:lnSpc>
                          <a:spcPts val="144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9559" algn="l" rtl="0" eaLnBrk="0">
                        <a:lnSpc>
                          <a:spcPts val="144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15.2%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2429" algn="l" rtl="0" eaLnBrk="0">
                        <a:lnSpc>
                          <a:spcPts val="144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8.1%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980" algn="l" rtl="0" eaLnBrk="0">
                        <a:lnSpc>
                          <a:spcPts val="144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23.3%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Athlete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9220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95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42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27659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42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92429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3.2%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42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93980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11.9%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42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4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Singer/Ra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pper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9854" algn="l" rtl="0" eaLnBrk="0">
                        <a:lnSpc>
                          <a:spcPts val="1428"/>
                        </a:lnSpc>
                        <a:tabLst/>
                      </a:pP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61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27659" algn="l" rtl="0" eaLnBrk="0">
                        <a:lnSpc>
                          <a:spcPts val="1428"/>
                        </a:lnSpc>
                        <a:tabLst/>
                      </a:pP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4.1%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9254" algn="l" rtl="0" eaLnBrk="0">
                        <a:lnSpc>
                          <a:spcPts val="1428"/>
                        </a:lnSpc>
                        <a:tabLst/>
                      </a:pP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2.3%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32079" algn="l" rtl="0" eaLnBrk="0">
                        <a:lnSpc>
                          <a:spcPts val="1428"/>
                        </a:lnSpc>
                        <a:tabLst/>
                      </a:pP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1.8%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03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7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Actor/Act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3819" algn="l" rtl="0" eaLnBrk="0">
                        <a:lnSpc>
                          <a:spcPts val="1342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128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0200" algn="l" rtl="0" eaLnBrk="0">
                        <a:lnSpc>
                          <a:spcPts val="1342"/>
                        </a:lnSpc>
                        <a:tabLst/>
                      </a:pPr>
                      <a:r>
                        <a:rPr sz="1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6.3%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51154" algn="l" rtl="0" eaLnBrk="0">
                        <a:lnSpc>
                          <a:spcPts val="1342"/>
                        </a:lnSpc>
                        <a:tabLst/>
                      </a:pP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12.4%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7155" algn="l" rtl="0" eaLnBrk="0">
                        <a:lnSpc>
                          <a:spcPts val="1342"/>
                        </a:lnSpc>
                        <a:tabLst/>
                      </a:pPr>
                      <a:r>
                        <a:rPr sz="11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11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18.7%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0" name="textbox 310"/>
          <p:cNvSpPr/>
          <p:nvPr/>
        </p:nvSpPr>
        <p:spPr>
          <a:xfrm>
            <a:off x="891223" y="3001486"/>
            <a:ext cx="5979795" cy="542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7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35584" algn="l" rtl="0" eaLnBrk="0">
              <a:lnSpc>
                <a:spcPct val="103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table reveals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substantial industry-specific di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vergence in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stakeholder preferences, with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ality TV stars and Athletes garnering disproportionate fan support while Actors receive preferential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evaluatio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2" name="textbox 312"/>
          <p:cNvSpPr/>
          <p:nvPr/>
        </p:nvSpPr>
        <p:spPr>
          <a:xfrm>
            <a:off x="904797" y="903930"/>
            <a:ext cx="4440554" cy="690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66"/>
              </a:lnSpc>
              <a:tabLst/>
            </a:pP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7.3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Industry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Specific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Bias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Patterns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spcBef>
                <a:spcPts val="2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Table 8: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Net bias by 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elebrity industry category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Page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18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316" name="path 316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box 318"/>
          <p:cNvSpPr/>
          <p:nvPr/>
        </p:nvSpPr>
        <p:spPr>
          <a:xfrm>
            <a:off x="902155" y="4962225"/>
            <a:ext cx="5969000" cy="3980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71855" algn="l" rtl="0" eaLnBrk="0">
              <a:lnSpc>
                <a:spcPts val="144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Four-archetype clustering in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judge-fan p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erformance space.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6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224790" algn="l" rtl="0" eaLnBrk="0">
              <a:lnSpc>
                <a:spcPct val="110000"/>
              </a:lnSpc>
              <a:spcBef>
                <a:spcPts val="333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disproportionate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concentration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fina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lists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within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narrow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Favorites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cluster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(3.6%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contestants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yielding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multiple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championship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contenders)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quanti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fies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structural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vulnerability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addressed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by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adaptive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weighting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mechanisms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subsequent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analysis.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Professional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dancer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char-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acteristics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exert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measurable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impact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through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tner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coefficients,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top-decile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partners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improving placements by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2.3 ranks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average.  Celebrity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demographics—particularly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age under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40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Reality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TV/Athlete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backgrounds—systematically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enhan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ce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support.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Critically,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these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determinants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exhibit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stakeholder-speci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fic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sensitivities: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prioritize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technical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execution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(im-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portance 0.846), while fans weight temporal loy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alty (importance 0.639), establishing the empirical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foundation for balanced aggregatio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 design.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7779" algn="l" rtl="0" eaLnBrk="0">
              <a:lnSpc>
                <a:spcPct val="78000"/>
              </a:lnSpc>
              <a:spcBef>
                <a:spcPts val="1351"/>
              </a:spcBef>
              <a:tabLst/>
            </a:pP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   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Problem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4:</a:t>
            </a:r>
            <a:r>
              <a:rPr sz="1700" b="1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Optimization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7779" indent="217804" algn="l" rtl="0" eaLnBrk="0">
              <a:lnSpc>
                <a:spcPct val="98000"/>
              </a:lnSpc>
              <a:spcBef>
                <a:spcPts val="1069"/>
              </a:spcBef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design an Adaptive Weighted Voting System that dynamically adjusts stakehold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er influence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across competition stages while rewarding demonstrated 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kill improvement.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7145" algn="l" rtl="0" eaLnBrk="0">
              <a:lnSpc>
                <a:spcPct val="78000"/>
              </a:lnSpc>
              <a:spcBef>
                <a:spcPts val="1193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8.1    AWVS Design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indent="224790" algn="l" rtl="0" eaLnBrk="0">
              <a:lnSpc>
                <a:spcPct val="103000"/>
              </a:lnSpc>
              <a:spcBef>
                <a:spcPts val="4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Adaptive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Weighted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stem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computes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each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contestant’s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combined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via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three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components:  standardized judge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evaluation,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normalized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support,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performance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trajectory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bonus.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aggregation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function is defined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as: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20" name="picture 3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35568" y="1497617"/>
            <a:ext cx="3863520" cy="3307604"/>
          </a:xfrm>
          <a:prstGeom prst="rect">
            <a:avLst/>
          </a:prstGeom>
        </p:spPr>
      </p:pic>
      <p:sp>
        <p:nvSpPr>
          <p:cNvPr id="322" name="textbox 322"/>
          <p:cNvSpPr/>
          <p:nvPr/>
        </p:nvSpPr>
        <p:spPr>
          <a:xfrm>
            <a:off x="904281" y="938547"/>
            <a:ext cx="5966459" cy="395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0000"/>
              </a:lnSpc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Rice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(S2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runner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up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),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Bristol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Palin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S11,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rd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place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).  </a:t>
            </a:r>
            <a:r>
              <a:rPr sz="1100" i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Underdogs</a:t>
            </a:r>
            <a:r>
              <a:rPr sz="1100" i="1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(36.1%,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152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occupy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low-performance quadrant with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10.1 average plac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ement and 4.2-week survival.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4" name="textbox 324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Page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19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326" name="path 326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box 328"/>
          <p:cNvSpPr/>
          <p:nvPr/>
        </p:nvSpPr>
        <p:spPr>
          <a:xfrm>
            <a:off x="904129" y="1122012"/>
            <a:ext cx="5967095" cy="4836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6675" algn="l" rtl="0" eaLnBrk="0">
              <a:lnSpc>
                <a:spcPts val="1599"/>
              </a:lnSpc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200" kern="0" spc="0" baseline="5001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WVS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 α(t)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Z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baseline="-1509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 (1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−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α(t))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Z   + β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Trend</a:t>
            </a:r>
            <a:r>
              <a:rPr sz="1200" kern="0" spc="0" baseline="-6413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200" kern="0" spc="70" baseline="-6413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,t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(15)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970" indent="222250" algn="l" rtl="0" eaLnBrk="0">
              <a:lnSpc>
                <a:spcPct val="110000"/>
              </a:lnSpc>
              <a:spcBef>
                <a:spcPts val="1223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where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Z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40" baseline="-21703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Z  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represent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z-score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normalized judge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nd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shares,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ensuring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commensurability.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key innovation lies in the dynam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ic</a:t>
            </a: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weight: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45995" algn="l" rtl="0" eaLnBrk="0">
              <a:lnSpc>
                <a:spcPts val="2904"/>
              </a:lnSpc>
              <a:spcBef>
                <a:spcPts val="303"/>
              </a:spcBef>
              <a:tabLst>
                <a:tab pos="595375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2700" indent="222884" algn="l" rtl="0" eaLnBrk="0">
              <a:lnSpc>
                <a:spcPct val="110000"/>
              </a:lnSpc>
              <a:spcBef>
                <a:spcPts val="979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 linear progression increases judge influence f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rom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 initial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baseline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α</a:t>
            </a:r>
            <a:r>
              <a:rPr sz="1200" kern="0" spc="30" baseline="-1302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base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maximum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weight as the competition approaches 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finale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1200" kern="0" spc="40" baseline="-1302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max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trajectory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onent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rewards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improvement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599"/>
              </a:lnSpc>
              <a:spcBef>
                <a:spcPts val="354"/>
              </a:spcBef>
              <a:tabLst/>
            </a:pPr>
            <a:r>
              <a:rPr sz="1800" kern="0" spc="0" baseline="5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Trend</a:t>
            </a:r>
            <a:r>
              <a:rPr sz="1200" kern="0" spc="0" baseline="-950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200" kern="0" spc="60" baseline="-950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,t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60" baseline="1102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baseline="1102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max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60" baseline="1102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(0</a:t>
            </a:r>
            <a:r>
              <a:rPr sz="1800" kern="0" spc="50" baseline="1102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baseline="1102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</a:t>
            </a:r>
            <a:r>
              <a:rPr sz="1200" kern="0" spc="0" baseline="-950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200" kern="0" spc="50" baseline="-950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,t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50" baseline="5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−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0" baseline="5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50" baseline="-18183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,t-1</a:t>
            </a:r>
            <a:r>
              <a:rPr sz="700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50" baseline="5732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</a:t>
            </a:r>
            <a:r>
              <a:rPr sz="1800" kern="0" spc="50" baseline="5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(17)</a:t>
            </a:r>
            <a:endParaRPr sz="1800" baseline="5240" dirty="0">
              <a:latin typeface="Times New Roman"/>
              <a:ea typeface="Times New Roman"/>
              <a:cs typeface="Times New Roman"/>
            </a:endParaRPr>
          </a:p>
          <a:p>
            <a:pPr marL="12700" indent="223520" algn="l" rtl="0" eaLnBrk="0">
              <a:lnSpc>
                <a:spcPct val="116000"/>
              </a:lnSpc>
              <a:spcBef>
                <a:spcPts val="1201"/>
              </a:spcBef>
              <a:tabLst/>
            </a:pP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where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50" baseline="-21703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,t-1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denotes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he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contestant’s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moving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average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previous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weeks.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Positive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deviations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trigger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bonu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scaled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by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β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;  stagnation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or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decline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yields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zero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additional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credit.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indent="222250" algn="l" rtl="0" eaLnBrk="0">
              <a:lnSpc>
                <a:spcPct val="109000"/>
              </a:lnSpc>
              <a:spcBef>
                <a:spcPts val="459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Design</a:t>
            </a:r>
            <a:r>
              <a:rPr sz="1100" b="1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rationale.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Early-season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prioritizes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entertai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nment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value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audience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engage-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ment,</a:t>
            </a:r>
            <a:r>
              <a:rPr sz="1100" kern="0" spc="-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justifying higher fan weight.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 competi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tors advance, technical mastery becomes paramount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 credible ch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ampionship determination.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dynamic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α(t)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mirrors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transition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without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intro-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ducing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discontinuities.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trend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bonu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addresses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deficiency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all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existing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rules:  consistent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mediocrity receives identical treatment to demonstrated growth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By quantifying improvement mo-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mentum, AWVS incentivizes skill development throu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ghout the season.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7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682750" algn="l" rtl="0" eaLnBrk="0">
              <a:lnSpc>
                <a:spcPct val="82000"/>
              </a:lnSpc>
              <a:spcBef>
                <a:spcPts val="2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Table 9: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AWVS tem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poral weight evolution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30" name="textbox 330"/>
          <p:cNvSpPr/>
          <p:nvPr/>
        </p:nvSpPr>
        <p:spPr>
          <a:xfrm>
            <a:off x="1828459" y="3848257"/>
            <a:ext cx="59055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332" name="textbox 332"/>
          <p:cNvSpPr/>
          <p:nvPr/>
        </p:nvSpPr>
        <p:spPr>
          <a:xfrm>
            <a:off x="1805635" y="3762418"/>
            <a:ext cx="83819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334" name="textbox 334"/>
          <p:cNvSpPr/>
          <p:nvPr/>
        </p:nvSpPr>
        <p:spPr>
          <a:xfrm>
            <a:off x="4661435" y="3490829"/>
            <a:ext cx="59055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336" name="textbox 336"/>
          <p:cNvSpPr/>
          <p:nvPr/>
        </p:nvSpPr>
        <p:spPr>
          <a:xfrm>
            <a:off x="4659183" y="3397382"/>
            <a:ext cx="83819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pic>
        <p:nvPicPr>
          <p:cNvPr id="338" name="picture 3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50669" y="2083252"/>
            <a:ext cx="3707334" cy="368820"/>
          </a:xfrm>
          <a:prstGeom prst="rect">
            <a:avLst/>
          </a:prstGeom>
        </p:spPr>
      </p:pic>
      <p:sp>
        <p:nvSpPr>
          <p:cNvPr id="340" name="textbox 340"/>
          <p:cNvSpPr/>
          <p:nvPr/>
        </p:nvSpPr>
        <p:spPr>
          <a:xfrm>
            <a:off x="2193405" y="1581358"/>
            <a:ext cx="127635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i,t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342" name="textbox 342"/>
          <p:cNvSpPr/>
          <p:nvPr/>
        </p:nvSpPr>
        <p:spPr>
          <a:xfrm>
            <a:off x="2190895" y="1495810"/>
            <a:ext cx="100330" cy="104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pic>
        <p:nvPicPr>
          <p:cNvPr id="344" name="picture 3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57493" y="1508206"/>
            <a:ext cx="74058" cy="187073"/>
          </a:xfrm>
          <a:prstGeom prst="rect">
            <a:avLst/>
          </a:prstGeom>
        </p:spPr>
      </p:pic>
      <p:sp>
        <p:nvSpPr>
          <p:cNvPr id="346" name="textbox 346"/>
          <p:cNvSpPr/>
          <p:nvPr/>
        </p:nvSpPr>
        <p:spPr>
          <a:xfrm>
            <a:off x="4507396" y="1223917"/>
            <a:ext cx="127635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i,t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348" name="textbox 348"/>
          <p:cNvSpPr/>
          <p:nvPr/>
        </p:nvSpPr>
        <p:spPr>
          <a:xfrm>
            <a:off x="4542344" y="1130774"/>
            <a:ext cx="100330" cy="104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pic>
        <p:nvPicPr>
          <p:cNvPr id="350" name="picture 3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47473" y="1143170"/>
            <a:ext cx="74070" cy="194667"/>
          </a:xfrm>
          <a:prstGeom prst="rect">
            <a:avLst/>
          </a:prstGeom>
        </p:spPr>
      </p:pic>
      <p:sp>
        <p:nvSpPr>
          <p:cNvPr id="352" name="textbox 352"/>
          <p:cNvSpPr/>
          <p:nvPr/>
        </p:nvSpPr>
        <p:spPr>
          <a:xfrm>
            <a:off x="2314893" y="1223917"/>
            <a:ext cx="127635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i,t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354" name="textbox 354"/>
          <p:cNvSpPr/>
          <p:nvPr/>
        </p:nvSpPr>
        <p:spPr>
          <a:xfrm>
            <a:off x="2332587" y="1127332"/>
            <a:ext cx="102235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356" name="table 356"/>
          <p:cNvGraphicFramePr>
            <a:graphicFrameLocks noGrp="1"/>
          </p:cNvGraphicFramePr>
          <p:nvPr/>
        </p:nvGraphicFramePr>
        <p:xfrm>
          <a:off x="2355989" y="5956414"/>
          <a:ext cx="3060064" cy="1085214"/>
        </p:xfrm>
        <a:graphic>
          <a:graphicData uri="http://schemas.openxmlformats.org/drawingml/2006/table">
            <a:tbl>
              <a:tblPr/>
              <a:tblGrid>
                <a:gridCol w="812165"/>
                <a:gridCol w="417830"/>
                <a:gridCol w="980439"/>
                <a:gridCol w="849630"/>
              </a:tblGrid>
              <a:tr h="2673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622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α(t)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 Weight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35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 Weight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2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5445" algn="l" rtl="0" eaLnBrk="0">
                        <a:lnSpc>
                          <a:spcPts val="137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644" algn="l" rtl="0" eaLnBrk="0">
                        <a:lnSpc>
                          <a:spcPts val="137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0.40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3059" algn="l" rtl="0" eaLnBrk="0">
                        <a:lnSpc>
                          <a:spcPts val="137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0829" algn="l" rtl="0" eaLnBrk="0">
                        <a:lnSpc>
                          <a:spcPts val="137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60%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3379" algn="l" rtl="0" eaLnBrk="0">
                        <a:lnSpc>
                          <a:spcPts val="1377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644" algn="l" rtl="0" eaLnBrk="0">
                        <a:lnSpc>
                          <a:spcPts val="137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0.51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6234" algn="l" rtl="0" eaLnBrk="0">
                        <a:lnSpc>
                          <a:spcPts val="1377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51%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020" algn="l" rtl="0" eaLnBrk="0">
                        <a:lnSpc>
                          <a:spcPts val="1377"/>
                        </a:lnSpc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49%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35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3379" algn="l" rtl="0" eaLnBrk="0">
                        <a:lnSpc>
                          <a:spcPts val="1377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644" algn="l" rtl="0" eaLnBrk="0">
                        <a:lnSpc>
                          <a:spcPts val="137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0.61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6234" algn="l" rtl="0" eaLnBrk="0">
                        <a:lnSpc>
                          <a:spcPts val="1377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61%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100" algn="l" rtl="0" eaLnBrk="0">
                        <a:lnSpc>
                          <a:spcPts val="137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39%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71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r>
                        <a:rPr sz="1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Finals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7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ts val="144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0.70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7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4329" algn="l" rtl="0" eaLnBrk="0">
                        <a:lnSpc>
                          <a:spcPts val="144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70%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7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100" algn="l" rtl="0" eaLnBrk="0">
                        <a:lnSpc>
                          <a:spcPts val="144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30%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8" name="textbox 358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Page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360" name="path 360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box 362"/>
          <p:cNvSpPr/>
          <p:nvPr/>
        </p:nvSpPr>
        <p:spPr>
          <a:xfrm>
            <a:off x="902459" y="3450536"/>
            <a:ext cx="5969000" cy="26346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24230" algn="l" rtl="0" eaLnBrk="0">
              <a:lnSpc>
                <a:spcPct val="83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15: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AWVS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weight progression over comp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etition timeline.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7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224154" algn="l" rtl="0" eaLnBrk="0">
              <a:lnSpc>
                <a:spcPct val="110000"/>
              </a:lnSpc>
              <a:spcBef>
                <a:spcPts val="340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Parameter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optimization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via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grid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search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1–27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yields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α</a:t>
            </a:r>
            <a:r>
              <a:rPr sz="1200" kern="0" spc="0" baseline="-1302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base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γ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0.3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β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0.5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preserving minimum fan influence at 30% while achieving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substan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tial performance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gains.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6509" algn="l" rtl="0" eaLnBrk="0">
              <a:lnSpc>
                <a:spcPct val="78000"/>
              </a:lnSpc>
              <a:spcBef>
                <a:spcPts val="1165"/>
              </a:spcBef>
              <a:tabLst/>
            </a:pP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8.2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Comparative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Evaluation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indent="222884" algn="l" rtl="0" eaLnBrk="0">
              <a:lnSpc>
                <a:spcPct val="110000"/>
              </a:lnSpc>
              <a:spcBef>
                <a:spcPts val="828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conduct retrospective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simulation across 241 elimination weeks spanning Seasons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1–27, ap-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plying AWVS alongside the three historical rules under identical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estimates.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Performance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assessed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along four dimensions established in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blem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2: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fairness,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balance,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stability,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nical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merit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preservation.  These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metrics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computed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identically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all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enable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direct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comparison.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659130" algn="l" rtl="0" eaLnBrk="0">
              <a:lnSpc>
                <a:spcPts val="1440"/>
              </a:lnSpc>
              <a:spcBef>
                <a:spcPts val="1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Table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Multi-dimensional performance comparis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 across voting systems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64" name="picture 3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49222" y="939697"/>
            <a:ext cx="4636008" cy="2318004"/>
          </a:xfrm>
          <a:prstGeom prst="rect">
            <a:avLst/>
          </a:prstGeom>
        </p:spPr>
      </p:pic>
      <p:graphicFrame>
        <p:nvGraphicFramePr>
          <p:cNvPr id="366" name="table 366"/>
          <p:cNvGraphicFramePr>
            <a:graphicFrameLocks noGrp="1"/>
          </p:cNvGraphicFramePr>
          <p:nvPr/>
        </p:nvGraphicFramePr>
        <p:xfrm>
          <a:off x="1386255" y="6075171"/>
          <a:ext cx="4999354" cy="1350645"/>
        </p:xfrm>
        <a:graphic>
          <a:graphicData uri="http://schemas.openxmlformats.org/drawingml/2006/table">
            <a:tbl>
              <a:tblPr/>
              <a:tblGrid>
                <a:gridCol w="1863725"/>
                <a:gridCol w="791844"/>
                <a:gridCol w="923290"/>
                <a:gridCol w="832485"/>
                <a:gridCol w="588009"/>
              </a:tblGrid>
              <a:tr h="2679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469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Metric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644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Rank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Sum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469" algn="l" rtl="0" eaLnBrk="0">
                        <a:lnSpc>
                          <a:spcPct val="7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Percent</a:t>
                      </a:r>
                      <a:r>
                        <a:rPr sz="11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Sum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835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Judge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7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AWVS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469" algn="l" rtl="0" eaLnBrk="0">
                        <a:lnSpc>
                          <a:spcPts val="144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Fairness (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 </a:t>
                      </a: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 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|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FFI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|</a:t>
                      </a: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8600" algn="l" rtl="0" eaLnBrk="0">
                        <a:lnSpc>
                          <a:spcPts val="144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0.866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734" algn="l" rtl="0" eaLnBrk="0">
                        <a:lnSpc>
                          <a:spcPts val="144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0.813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8284" algn="l" rtl="0" eaLnBrk="0">
                        <a:lnSpc>
                          <a:spcPts val="144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0.759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0.932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Balance (outcome d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iversity)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7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0.913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7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337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0.772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7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892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0.589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635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0.891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3514">
                <a:tc>
                  <a:txBody>
                    <a:bodyPr/>
                    <a:lstStyle/>
                    <a:p>
                      <a:pPr marL="81914" algn="l" rtl="0" eaLnBrk="0">
                        <a:lnSpc>
                          <a:spcPts val="1337"/>
                        </a:lnSpc>
                        <a:tabLst/>
                      </a:pP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Stability (</a:t>
                      </a: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 </a:t>
                      </a: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 </a:t>
                      </a: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σ</a:t>
                      </a:r>
                      <a:r>
                        <a:rPr sz="1200" kern="0" spc="60" baseline="-2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FF</a:t>
                      </a:r>
                      <a:r>
                        <a:rPr sz="1200" kern="0" spc="50" baseline="-2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7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29234" algn="l" rtl="0" eaLnBrk="0">
                        <a:lnSpc>
                          <a:spcPts val="133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0.854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93370" algn="l" rtl="0" eaLnBrk="0">
                        <a:lnSpc>
                          <a:spcPts val="133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0.801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48920" algn="l" rtl="0" eaLnBrk="0">
                        <a:lnSpc>
                          <a:spcPts val="133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0.742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0.889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20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Technical merit (finals</a:t>
                      </a: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9234" algn="l" rtl="0" eaLnBrk="0">
                        <a:lnSpc>
                          <a:spcPts val="133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0.810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3370" algn="l" rtl="0" eaLnBrk="0">
                        <a:lnSpc>
                          <a:spcPts val="133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0.850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8920" algn="l" rtl="0" eaLnBrk="0">
                        <a:lnSpc>
                          <a:spcPts val="1337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0.730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635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0.880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3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644" algn="l" rtl="0" eaLnBrk="0">
                        <a:lnSpc>
                          <a:spcPct val="7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Overall score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ts val="144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0.884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3370" algn="l" rtl="0" eaLnBrk="0">
                        <a:lnSpc>
                          <a:spcPts val="144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0.806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8920" algn="l" rtl="0" eaLnBrk="0">
                        <a:lnSpc>
                          <a:spcPts val="144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0.710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635" algn="l" rtl="0" eaLnBrk="0">
                        <a:lnSpc>
                          <a:spcPct val="7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0.923</a:t>
                      </a:r>
                      <a:endParaRPr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8" name="textbox 368"/>
          <p:cNvSpPr/>
          <p:nvPr/>
        </p:nvSpPr>
        <p:spPr>
          <a:xfrm>
            <a:off x="904129" y="7762133"/>
            <a:ext cx="5967095" cy="542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22250" algn="l" rtl="0" eaLnBrk="0">
              <a:lnSpc>
                <a:spcPct val="103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AWVS achieves substantial imp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rovement across all dimensions, with the overall score increas-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ing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0.884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(Rank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Sum)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0.923,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representing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enhanced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fairness,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balance,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stability, and tech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nical merit simultaneously.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70" name="textbox 370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Page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21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372" name="path 372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4" name="path 374"/>
          <p:cNvSpPr/>
          <p:nvPr/>
        </p:nvSpPr>
        <p:spPr>
          <a:xfrm>
            <a:off x="2356523" y="6395160"/>
            <a:ext cx="311276" cy="6070"/>
          </a:xfrm>
          <a:custGeom>
            <a:avLst/>
            <a:gdLst/>
            <a:ahLst/>
            <a:cxnLst/>
            <a:rect l="0" t="0" r="0" b="0"/>
            <a:pathLst>
              <a:path w="490" h="9">
                <a:moveTo>
                  <a:pt x="0" y="4"/>
                </a:moveTo>
                <a:lnTo>
                  <a:pt x="490" y="4"/>
                </a:lnTo>
              </a:path>
            </a:pathLst>
          </a:custGeom>
          <a:noFill/>
          <a:ln w="607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box 376"/>
          <p:cNvSpPr/>
          <p:nvPr/>
        </p:nvSpPr>
        <p:spPr>
          <a:xfrm>
            <a:off x="902459" y="4155102"/>
            <a:ext cx="5998209" cy="5024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90344" algn="l" rtl="0" eaLnBrk="0">
              <a:lnSpc>
                <a:spcPts val="144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16: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Multi-dimensional p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erformance radar.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223520" algn="l" rtl="0" eaLnBrk="0">
              <a:lnSpc>
                <a:spcPct val="110000"/>
              </a:lnSpc>
              <a:spcBef>
                <a:spcPts val="331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16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visualizes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performance profiles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acro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systems.  AWVS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exhibits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largest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closed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area, indicating consistent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strength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across dimensions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Notably, while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Rank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achieves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competitive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balance,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its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static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weighting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limits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fairness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technical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merit.  Percent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excels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 late-stage technical merit but sacr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ifices early-stage balance.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Save demonstrates the small-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est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profile,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reflectin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systematic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bias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amplification.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AWVS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uniquely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achieves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near-optimal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performance across all axes simultaneously, val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idating 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adaptive weighting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approach.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334" indent="224790" algn="l" rtl="0" eaLnBrk="0">
              <a:lnSpc>
                <a:spcPct val="107000"/>
              </a:lnSpc>
              <a:spcBef>
                <a:spcPts val="1045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Counterfactual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canonical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controv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ersy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cases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validates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corrective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capacity.  Under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AWVS, Bobby Bones would have been eliminated in Week 9 at 4th place: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rising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weight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amplifies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consistently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technical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scores,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while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skill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stagnation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triggers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zero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trend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bonus.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substantial fan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support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sustains competitiveness through mid-se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ason but cannot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overcome the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shifting evaluation criteria approaching finals.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Similarly, Jerry Rice’s traject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ory under AWVS leads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Week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elimination:  the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progressively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increasing judge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weight  systematically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disadvantages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contestants whose fan populari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ty dramatically exceeds technical performance, preventing the exact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motivated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rule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reform.  Thes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retrospective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interventions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demonstrate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AWVS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successfully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preven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ts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low-skill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finalists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sustained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purely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by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mobilization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while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maintaining audience engagement above ba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seline levels.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7145" algn="l" rtl="0" eaLnBrk="0">
              <a:lnSpc>
                <a:spcPct val="78000"/>
              </a:lnSpc>
              <a:spcBef>
                <a:spcPts val="1351"/>
              </a:spcBef>
              <a:tabLst/>
            </a:pP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   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Sensitivity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2700" indent="222884" algn="l" rtl="0" eaLnBrk="0">
              <a:lnSpc>
                <a:spcPct val="98000"/>
              </a:lnSpc>
              <a:spcBef>
                <a:spcPts val="1069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conduct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comprehensive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sensitivi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ty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analyses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validate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framework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robustness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across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rameter variations, noise perturbations, and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 quality degradation.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970" indent="223520" algn="l" rtl="0" eaLnBrk="0">
              <a:lnSpc>
                <a:spcPct val="110000"/>
              </a:lnSpc>
              <a:spcBef>
                <a:spcPts val="7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Hyperparameter stability.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Ridge’s</a:t>
            </a: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regulariz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ation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parameter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α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exhibits a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broad optimal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plateau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α</a:t>
            </a:r>
            <a:r>
              <a:rPr sz="11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∈</a:t>
            </a:r>
            <a:r>
              <a:rPr sz="1100" kern="0" spc="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[10, 100]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where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test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200" kern="0" spc="50" baseline="3472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remains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stable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0.45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variance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&lt;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0.001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two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order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magnitude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stability eliminates hyperparameter tuning concerns.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Performance degrades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gra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cefully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78" name="picture 3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084120" y="939683"/>
            <a:ext cx="3566408" cy="3058428"/>
          </a:xfrm>
          <a:prstGeom prst="rect">
            <a:avLst/>
          </a:prstGeom>
        </p:spPr>
      </p:pic>
      <p:sp>
        <p:nvSpPr>
          <p:cNvPr id="380" name="textbox 380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Page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22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382" name="path 382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extbox 384"/>
          <p:cNvSpPr/>
          <p:nvPr/>
        </p:nvSpPr>
        <p:spPr>
          <a:xfrm>
            <a:off x="902458" y="4148156"/>
            <a:ext cx="5998209" cy="3623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53794" algn="l" rtl="0" eaLnBrk="0">
              <a:lnSpc>
                <a:spcPts val="133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17: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Ridge hy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perparameter stability: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test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200" kern="0" spc="30" baseline="3798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versus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α</a:t>
            </a:r>
            <a:r>
              <a:rPr sz="1100" kern="0" spc="-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7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indent="222884" algn="l" rtl="0" eaLnBrk="0">
              <a:lnSpc>
                <a:spcPct val="110000"/>
              </a:lnSpc>
              <a:spcBef>
                <a:spcPts val="341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</a:t>
            </a:r>
            <a:r>
              <a:rPr sz="1100" b="1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perturbation</a:t>
            </a:r>
            <a:r>
              <a:rPr sz="1100" b="1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ensitivity.</a:t>
            </a: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Gaussian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noise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injection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(0.1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σ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0.2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σ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0.5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σ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reveals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ture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importance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hierarchy: 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judge_rank_in_week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(most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sensitive,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200" kern="0" spc="60" baseline="3472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drop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  0.082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0.5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σ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relative_judge_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score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(moderate,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drop: 0.034), 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cumulative_average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(minimal,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drop: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0.008).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Rankings remain stable under alternative perturbation methods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validating that weekly de-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cisions depend on current performance rather than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historical trends.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indent="227329" algn="l" rtl="0" eaLnBrk="0">
              <a:lnSpc>
                <a:spcPct val="105000"/>
              </a:lnSpc>
              <a:spcBef>
                <a:spcPts val="955"/>
              </a:spcBef>
              <a:tabLst/>
            </a:pP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Sample size sensitivity.</a:t>
            </a:r>
            <a:r>
              <a:rPr sz="1100" b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Performance saturates at 80% of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training data (2,800 samples), achie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ing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97.8%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maximum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200" kern="0" spc="80" baseline="3472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Test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200" kern="0" spc="80" baseline="3472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improves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0.38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(20%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sample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0.44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(80%)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45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(100%).  Early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saturatio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indicates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capacity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matches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complexity.  Variance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across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random subsamples remains low (std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&lt; 0.02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),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confirming reproducibility.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4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23520" algn="l" rtl="0" eaLnBrk="0">
              <a:lnSpc>
                <a:spcPct val="107000"/>
              </a:lnSpc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Noise</a:t>
            </a:r>
            <a:r>
              <a:rPr sz="1100" b="1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robustness.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Three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oise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scenarios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assess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real-world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reliability,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illustrated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ure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18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(1)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Gaussian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noise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injection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shows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5.1%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200" kern="0" spc="90" baseline="3472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drop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10%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noise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level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 11.8%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drop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20%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noise,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graceful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linear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degradation;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(2)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Missi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ng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testing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reveals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mean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imputation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achieves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200" kern="0" spc="130" baseline="3472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 0.423 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(6.0%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drop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20%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missingness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substantially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outperforming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median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impu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tation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(10.9%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drop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zero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filling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(16.0%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drop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);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(3)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Outlier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injection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5%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rate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σ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magni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tude causes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only 4.2% performance drop.  Ridge’s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1200" kern="0" spc="40" baseline="-1302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regularization provides inhere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nt robustness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through down-weighting of extreme re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siduals.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86" name="picture 3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84670" y="2014351"/>
            <a:ext cx="3331650" cy="1814120"/>
          </a:xfrm>
          <a:prstGeom prst="rect">
            <a:avLst/>
          </a:prstGeom>
        </p:spPr>
      </p:pic>
      <p:sp>
        <p:nvSpPr>
          <p:cNvPr id="388" name="textbox 388"/>
          <p:cNvSpPr/>
          <p:nvPr/>
        </p:nvSpPr>
        <p:spPr>
          <a:xfrm>
            <a:off x="904129" y="938547"/>
            <a:ext cx="5966459" cy="767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3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905" algn="l" rtl="0" eaLnBrk="0">
              <a:lnSpc>
                <a:spcPct val="111000"/>
              </a:lnSpc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outside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range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overfitting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when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α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&lt;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train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test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gap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0.10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underfitting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when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α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</a:t>
            </a:r>
            <a:r>
              <a:rPr sz="11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200" kern="0" spc="40" baseline="3472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&lt;  0.40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17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illust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rates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stability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across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full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parameter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range,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opti-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mal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plateau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clearly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visible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between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α  =  10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α  =  100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Hyperparameter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sensitivity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index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200" kern="0" spc="40" baseline="-1302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α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 0.0010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onfirms extremely low sensitivity, suitable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 production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deployment.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0" name="textbox 390"/>
          <p:cNvSpPr/>
          <p:nvPr/>
        </p:nvSpPr>
        <p:spPr>
          <a:xfrm>
            <a:off x="2402777" y="2705814"/>
            <a:ext cx="3158489" cy="1176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1514" algn="l" rtl="0" eaLnBrk="0">
              <a:lnSpc>
                <a:spcPct val="89000"/>
              </a:lnSpc>
              <a:tabLst/>
            </a:pPr>
            <a:r>
              <a:rPr sz="300" i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R²</a:t>
            </a:r>
            <a:r>
              <a:rPr sz="300" i="1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" i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300" i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" i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0.45</a:t>
            </a:r>
            <a:r>
              <a:rPr sz="300" i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" i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300" i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stable</a:t>
            </a:r>
            <a:r>
              <a:rPr sz="300" i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34614" algn="l" rtl="0" eaLnBrk="0">
              <a:lnSpc>
                <a:spcPct val="90000"/>
              </a:lnSpc>
              <a:spcBef>
                <a:spcPts val="91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Underfittin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2651760" algn="l" rtl="0" eaLnBrk="0">
              <a:lnSpc>
                <a:spcPct val="89000"/>
              </a:lnSpc>
              <a:spcBef>
                <a:spcPts val="51"/>
              </a:spcBef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&gt;</a:t>
            </a:r>
            <a:r>
              <a:rPr sz="3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1000)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85725" algn="l" rtl="0" eaLnBrk="0">
              <a:lnSpc>
                <a:spcPct val="75000"/>
              </a:lnSpc>
              <a:spcBef>
                <a:spcPts val="1123"/>
              </a:spcBef>
              <a:tabLst/>
            </a:pP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Test R²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85725" algn="l" rtl="0" eaLnBrk="0">
              <a:lnSpc>
                <a:spcPct val="77000"/>
              </a:lnSpc>
              <a:spcBef>
                <a:spcPts val="278"/>
              </a:spcBef>
              <a:tabLst/>
            </a:pP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Train</a:t>
            </a:r>
            <a:r>
              <a:rPr sz="3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R²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85725" algn="l" rtl="0" eaLnBrk="0">
              <a:lnSpc>
                <a:spcPct val="99000"/>
              </a:lnSpc>
              <a:spcBef>
                <a:spcPts val="279"/>
              </a:spcBef>
              <a:tabLst/>
            </a:pP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Optimal P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lateau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86360" algn="l" rtl="0" eaLnBrk="0">
              <a:lnSpc>
                <a:spcPct val="86000"/>
              </a:lnSpc>
              <a:spcBef>
                <a:spcPts val="56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        [10,</a:t>
            </a:r>
            <a:r>
              <a:rPr sz="3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100])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2292350" algn="l" rtl="0" eaLnBrk="0">
              <a:lnSpc>
                <a:spcPct val="74000"/>
              </a:lnSpc>
              <a:spcBef>
                <a:spcPts val="3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Sensitivity Index: </a:t>
            </a:r>
            <a:r>
              <a:rPr sz="300" i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3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 0.0010 (extremely low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85089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600" kern="0" spc="20" baseline="8681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Recommended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600" kern="0" spc="20" baseline="8681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3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600" kern="0" spc="20" baseline="8681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50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                                                                                 </a:t>
            </a: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Optimal plate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</a:t>
            </a:r>
            <a:r>
              <a:rPr sz="3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spans 2 orders of</a:t>
            </a:r>
            <a:r>
              <a:rPr sz="3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magnitude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74294" algn="l" rtl="0" eaLnBrk="0">
              <a:lnSpc>
                <a:spcPts val="155"/>
              </a:lnSpc>
              <a:spcBef>
                <a:spcPts val="518"/>
              </a:spcBef>
              <a:tabLst/>
            </a:pPr>
            <a:r>
              <a:rPr sz="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                                                                                            0                                                                                             1                                                                                              2                                                                                            3                                                                                       </a:t>
            </a:r>
            <a:r>
              <a:rPr sz="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4</a:t>
            </a:r>
            <a:endParaRPr sz="2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0000"/>
              </a:lnSpc>
              <a:spcBef>
                <a:spcPts val="3"/>
              </a:spcBef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10                                                         10                                             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10                                                        10                                                         10                                                        10</a:t>
            </a:r>
            <a:endParaRPr sz="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2" name="textbox 392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Page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23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394" name="textbox 394"/>
          <p:cNvSpPr/>
          <p:nvPr/>
        </p:nvSpPr>
        <p:spPr>
          <a:xfrm>
            <a:off x="2177294" y="1988849"/>
            <a:ext cx="102870" cy="18281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0.60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spcBef>
                <a:spcPts val="92"/>
              </a:spcBef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0.55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spcBef>
                <a:spcPts val="92"/>
              </a:spcBef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0.50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spcBef>
                <a:spcPts val="92"/>
              </a:spcBef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0.45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spcBef>
                <a:spcPts val="92"/>
              </a:spcBef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0.40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spcBef>
                <a:spcPts val="92"/>
              </a:spcBef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0.35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spcBef>
                <a:spcPts val="92"/>
              </a:spcBef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0.30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66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0.25</a:t>
            </a:r>
            <a:endParaRPr sz="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6" name="textbox 396"/>
          <p:cNvSpPr/>
          <p:nvPr/>
        </p:nvSpPr>
        <p:spPr>
          <a:xfrm>
            <a:off x="3260891" y="1887916"/>
            <a:ext cx="1396364" cy="79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Ridge Regression: Hyperparameter Stability</a:t>
            </a:r>
            <a:r>
              <a:rPr sz="4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8" name="textbox 398"/>
          <p:cNvSpPr/>
          <p:nvPr/>
        </p:nvSpPr>
        <p:spPr>
          <a:xfrm>
            <a:off x="3494463" y="3883976"/>
            <a:ext cx="928369" cy="75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4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Regularization Parameter    (log</a:t>
            </a:r>
            <a:r>
              <a:rPr sz="400" b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scale)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00" name="picture 4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124206" y="3908121"/>
            <a:ext cx="27238" cy="26577"/>
          </a:xfrm>
          <a:prstGeom prst="rect">
            <a:avLst/>
          </a:prstGeom>
        </p:spPr>
      </p:pic>
      <p:sp>
        <p:nvSpPr>
          <p:cNvPr id="402" name="path 402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4" name="textbox 404"/>
          <p:cNvSpPr/>
          <p:nvPr/>
        </p:nvSpPr>
        <p:spPr>
          <a:xfrm rot="16200000">
            <a:off x="2025941" y="2864144"/>
            <a:ext cx="225425" cy="73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spcBef>
                <a:spcPts val="1"/>
              </a:spcBef>
              <a:tabLst/>
            </a:pPr>
            <a:r>
              <a:rPr sz="4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R2</a:t>
            </a:r>
            <a:r>
              <a:rPr sz="4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box 406"/>
          <p:cNvSpPr/>
          <p:nvPr/>
        </p:nvSpPr>
        <p:spPr>
          <a:xfrm>
            <a:off x="902459" y="3241352"/>
            <a:ext cx="5969000" cy="5958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7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98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Figure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18: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Ridge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noise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robustnes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s: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(A)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Gaussian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noise,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(B)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missing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imputation,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(C)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outlier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injection.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6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indent="227329" algn="l" rtl="0" eaLnBrk="0">
              <a:lnSpc>
                <a:spcPct val="111000"/>
              </a:lnSpc>
              <a:spcBef>
                <a:spcPts val="341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Cross-validation</a:t>
            </a:r>
            <a:r>
              <a:rPr sz="1100" b="1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stability.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Performance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remains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consi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stent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across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partitioning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schemes:  5-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fold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200" kern="0" spc="30" baseline="3472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0.448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±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0.021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),  10-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fold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(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200" kern="0" spc="30" baseline="3472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0.450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±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0.018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),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leave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200" kern="0" spc="20" baseline="3472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0.447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±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0.023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),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variation 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&lt; 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0.015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Minimal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gap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between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random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fold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leave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∆R</a:t>
            </a:r>
            <a:r>
              <a:rPr sz="1200" kern="0" spc="120" baseline="3472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&lt; 0.003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confirms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generalization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unseen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970" indent="225425" algn="l" rtl="0" eaLnBrk="0">
              <a:lnSpc>
                <a:spcPct val="113000"/>
              </a:lnSpc>
              <a:spcBef>
                <a:spcPts val="663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Summary.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Sensitivity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establishes Ridge regression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production-ready: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broad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opti-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mal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α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plateau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(Figure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17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eliminates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tuning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complexity,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tolerance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10%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noise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20%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miss-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ingness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&lt;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7%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degradation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(Figure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18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ensures real-world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appl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icability,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 ranking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stability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validates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substantive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interpretations.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Recom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mended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deployment: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default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α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50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mean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imputation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missing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data,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ality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monitoring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thresholds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(noise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&lt;</a:t>
            </a:r>
            <a:r>
              <a:rPr sz="11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10%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missingness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&lt;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20%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3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σ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outlier detection.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6034" algn="l" rtl="0" eaLnBrk="0">
              <a:lnSpc>
                <a:spcPct val="78000"/>
              </a:lnSpc>
              <a:spcBef>
                <a:spcPts val="1131"/>
              </a:spcBef>
              <a:tabLst/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    Strengths and Weakness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23495" algn="l" rtl="0" eaLnBrk="0">
              <a:lnSpc>
                <a:spcPct val="78000"/>
              </a:lnSpc>
              <a:spcBef>
                <a:spcPts val="1236"/>
              </a:spcBef>
              <a:tabLst/>
            </a:pP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10.1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Strengths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indent="227329" algn="l" rtl="0" eaLnBrk="0">
              <a:lnSpc>
                <a:spcPct val="109000"/>
              </a:lnSpc>
              <a:spcBef>
                <a:spcPts val="1101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S1:  Rigorous</a:t>
            </a:r>
            <a:r>
              <a:rPr sz="1100" b="1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inverse</a:t>
            </a:r>
            <a:r>
              <a:rPr sz="1100" b="1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inferen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ce. 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address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votes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being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unobserved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by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developing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residual-based proxy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achieving high elimination match rate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significantly exceeding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andom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base-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line.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970" indent="225425" algn="l" rtl="0" eaLnBrk="0">
              <a:lnSpc>
                <a:spcPct val="114000"/>
              </a:lnSpc>
              <a:spcBef>
                <a:spcPts val="243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S2:</a:t>
            </a:r>
            <a:r>
              <a:rPr sz="1100" b="1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Multi-model triangulation.</a:t>
            </a:r>
            <a:r>
              <a:rPr sz="1100" b="1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Four complementary models cross-validate findings thro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ugh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Ridge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regression,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counterfactual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simul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ation,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Twin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Random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Forest,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adaptive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design.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Key results emerge consistently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across methods.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indent="227329" algn="l" rtl="0" eaLnBrk="0">
              <a:lnSpc>
                <a:spcPct val="99000"/>
              </a:lnSpc>
              <a:spcBef>
                <a:spcPts val="1048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S3:</a:t>
            </a:r>
            <a:r>
              <a:rPr sz="1100" b="1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Quantitative</a:t>
            </a:r>
            <a:r>
              <a:rPr sz="1100" b="1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framework.</a:t>
            </a:r>
            <a:r>
              <a:rPr sz="1100" b="1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 p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rovide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specific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metrics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estimation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accuracy,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rule fairness indices, technical bias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coefficients, and controversy reduction rates.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5240" indent="224154" algn="l" rtl="0" eaLnBrk="0">
              <a:lnSpc>
                <a:spcPct val="99000"/>
              </a:lnSpc>
              <a:spcBef>
                <a:spcPts val="998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S4: Actionable recommendations.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phased implementati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 roadmap requires no new data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collection and minimal production ch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anges.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7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indent="220345" algn="l" rtl="0" eaLnBrk="0">
              <a:lnSpc>
                <a:spcPct val="99000"/>
              </a:lnSpc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S5:  Validated</a:t>
            </a:r>
            <a:r>
              <a:rPr sz="1100" b="1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obustness. 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Comprehensive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sensitivity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(Section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9)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confirms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stability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across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hyperparameter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variat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ions,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perturbations,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sample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size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changes,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08" name="picture 4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097326" y="1262240"/>
            <a:ext cx="1750584" cy="1432308"/>
          </a:xfrm>
          <a:prstGeom prst="rect">
            <a:avLst/>
          </a:prstGeom>
        </p:spPr>
      </p:pic>
      <p:pic>
        <p:nvPicPr>
          <p:cNvPr id="410" name="picture 4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072126" y="1262240"/>
            <a:ext cx="1750584" cy="1432308"/>
          </a:xfrm>
          <a:prstGeom prst="rect">
            <a:avLst/>
          </a:prstGeom>
        </p:spPr>
      </p:pic>
      <p:pic>
        <p:nvPicPr>
          <p:cNvPr id="412" name="picture 4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216172" y="2676378"/>
            <a:ext cx="6350" cy="18170"/>
          </a:xfrm>
          <a:prstGeom prst="rect">
            <a:avLst/>
          </a:prstGeom>
        </p:spPr>
      </p:pic>
      <p:sp>
        <p:nvSpPr>
          <p:cNvPr id="414" name="rect 414"/>
          <p:cNvSpPr/>
          <p:nvPr/>
        </p:nvSpPr>
        <p:spPr>
          <a:xfrm>
            <a:off x="1158865" y="2464196"/>
            <a:ext cx="543326" cy="194012"/>
          </a:xfrm>
          <a:prstGeom prst="rect">
            <a:avLst/>
          </a:prstGeom>
          <a:solidFill>
            <a:srgbClr val="FFFFFF">
              <a:alpha val="9490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16" name="picture 4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478344" y="2676378"/>
            <a:ext cx="6350" cy="18170"/>
          </a:xfrm>
          <a:prstGeom prst="rect">
            <a:avLst/>
          </a:prstGeom>
        </p:spPr>
      </p:pic>
      <p:pic>
        <p:nvPicPr>
          <p:cNvPr id="418" name="picture 4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789207" y="2676378"/>
            <a:ext cx="6350" cy="18170"/>
          </a:xfrm>
          <a:prstGeom prst="rect">
            <a:avLst/>
          </a:prstGeom>
        </p:spPr>
      </p:pic>
      <p:pic>
        <p:nvPicPr>
          <p:cNvPr id="420" name="picture 4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740517" y="2676378"/>
            <a:ext cx="6350" cy="18170"/>
          </a:xfrm>
          <a:prstGeom prst="rect">
            <a:avLst/>
          </a:prstGeom>
        </p:spPr>
      </p:pic>
      <p:pic>
        <p:nvPicPr>
          <p:cNvPr id="422" name="picture 4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264862" y="2676378"/>
            <a:ext cx="6350" cy="18170"/>
          </a:xfrm>
          <a:prstGeom prst="rect">
            <a:avLst/>
          </a:prstGeom>
        </p:spPr>
      </p:pic>
      <p:pic>
        <p:nvPicPr>
          <p:cNvPr id="424" name="picture 4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527034" y="2676378"/>
            <a:ext cx="6350" cy="18170"/>
          </a:xfrm>
          <a:prstGeom prst="rect">
            <a:avLst/>
          </a:prstGeom>
        </p:spPr>
      </p:pic>
      <p:sp>
        <p:nvSpPr>
          <p:cNvPr id="426" name="textbox 426"/>
          <p:cNvSpPr/>
          <p:nvPr/>
        </p:nvSpPr>
        <p:spPr>
          <a:xfrm>
            <a:off x="1158865" y="2464196"/>
            <a:ext cx="543559" cy="194310"/>
          </a:xfrm>
          <a:prstGeom prst="rect">
            <a:avLst/>
          </a:prstGeom>
          <a:solidFill>
            <a:srgbClr val="FFFFFF">
              <a:alpha val="94901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endParaRPr/>
          </a:p>
        </p:txBody>
      </p:sp>
      <p:pic>
        <p:nvPicPr>
          <p:cNvPr id="428" name="picture 4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2002689" y="2676378"/>
            <a:ext cx="6350" cy="18170"/>
          </a:xfrm>
          <a:prstGeom prst="rect">
            <a:avLst/>
          </a:prstGeom>
        </p:spPr>
      </p:pic>
      <p:graphicFrame>
        <p:nvGraphicFramePr>
          <p:cNvPr id="430" name="table 430"/>
          <p:cNvGraphicFramePr>
            <a:graphicFrameLocks noGrp="1"/>
          </p:cNvGraphicFramePr>
          <p:nvPr/>
        </p:nvGraphicFramePr>
        <p:xfrm>
          <a:off x="1122525" y="1262240"/>
          <a:ext cx="1750059" cy="1416050"/>
        </p:xfrm>
        <a:graphic>
          <a:graphicData uri="http://schemas.openxmlformats.org/drawingml/2006/table">
            <a:tbl>
              <a:tblPr/>
              <a:tblGrid>
                <a:gridCol w="96519"/>
                <a:gridCol w="262254"/>
                <a:gridCol w="217804"/>
                <a:gridCol w="43815"/>
                <a:gridCol w="262254"/>
                <a:gridCol w="262254"/>
                <a:gridCol w="262254"/>
                <a:gridCol w="262254"/>
                <a:gridCol w="80644"/>
              </a:tblGrid>
              <a:tr h="119379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9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9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89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9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9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9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9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9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475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87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000"/>
                        </a:lnSpc>
                        <a:tabLst/>
                      </a:pPr>
                      <a:r>
                        <a:rPr sz="3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Baseline</a:t>
                      </a:r>
                      <a:endParaRPr sz="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475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87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5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5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79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79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79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75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675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3000"/>
                        </a:lnSpc>
                        <a:tabLst/>
                      </a:pPr>
                      <a:r>
                        <a:rPr sz="3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10% </a:t>
                      </a:r>
                      <a:r>
                        <a:rPr sz="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noise</a:t>
                      </a:r>
                      <a:r>
                        <a:rPr sz="3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</a:t>
                      </a:r>
                      <a:endParaRPr sz="3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74"/>
                        </a:lnSpc>
                        <a:tabLst/>
                      </a:pPr>
                      <a:r>
                        <a:rPr sz="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20%</a:t>
                      </a:r>
                      <a:r>
                        <a:rPr sz="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sz="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noise:</a:t>
                      </a:r>
                      <a:endParaRPr sz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3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5.1%</a:t>
                      </a:r>
                      <a:r>
                        <a:rPr sz="3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drop</a:t>
                      </a:r>
                      <a:endParaRPr sz="3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ts val="74"/>
                        </a:lnSpc>
                        <a:tabLst/>
                      </a:pPr>
                      <a:r>
                        <a:rPr sz="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r>
                        <a:rPr sz="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</a:t>
                      </a:r>
                      <a:r>
                        <a:rPr sz="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8%</a:t>
                      </a:r>
                      <a:r>
                        <a:rPr sz="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sz="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drop</a:t>
                      </a:r>
                      <a:endParaRPr sz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675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4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2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355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>
                          <a:tab pos="90805" algn="l"/>
                        </a:tabLst>
                      </a:pPr>
                      <a:r>
                        <a:rPr sz="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sz="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Ridge R²</a:t>
                      </a:r>
                      <a:endParaRPr sz="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5916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69" algn="l" rtl="0" eaLnBrk="0">
                        <a:lnSpc>
                          <a:spcPts val="46"/>
                        </a:lnSpc>
                        <a:tabLst/>
                      </a:pPr>
                      <a:r>
                        <a:rPr sz="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ts val="894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ts val="894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ts val="894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ts val="894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ts val="894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ts val="894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2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609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894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894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894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894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894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894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894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894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0B0B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32" name="picture 4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219045" y="2592099"/>
            <a:ext cx="46649" cy="46721"/>
          </a:xfrm>
          <a:prstGeom prst="rect">
            <a:avLst/>
          </a:prstGeom>
        </p:spPr>
      </p:pic>
      <p:sp>
        <p:nvSpPr>
          <p:cNvPr id="434" name="textbox 434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Page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24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436" name="textbox 436"/>
          <p:cNvSpPr/>
          <p:nvPr/>
        </p:nvSpPr>
        <p:spPr>
          <a:xfrm>
            <a:off x="3257000" y="1740551"/>
            <a:ext cx="1134110" cy="911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50900" algn="l" rtl="0" eaLnBrk="0">
              <a:lnSpc>
                <a:spcPct val="83000"/>
              </a:lnSpc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20%: 6.0%</a:t>
            </a:r>
            <a:r>
              <a:rPr sz="3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drop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spcBef>
                <a:spcPts val="102"/>
              </a:spcBef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Mean Imputatio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ts val="462"/>
              </a:lnSpc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Median Imputatio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ts val="463"/>
              </a:lnSpc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Zero Fill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ing</a:t>
            </a:r>
            <a:endParaRPr sz="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8" name="textbox 438"/>
          <p:cNvSpPr/>
          <p:nvPr/>
        </p:nvSpPr>
        <p:spPr>
          <a:xfrm>
            <a:off x="5232133" y="1960204"/>
            <a:ext cx="893444" cy="692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67690" algn="l" rtl="0" eaLnBrk="0">
              <a:lnSpc>
                <a:spcPct val="83000"/>
              </a:lnSpc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5%, 3</a:t>
            </a: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4.2%</a:t>
            </a: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drop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99"/>
              </a:spcBef>
              <a:tabLst/>
            </a:pP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magnitude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3334" algn="l" rtl="0" eaLnBrk="0">
              <a:lnSpc>
                <a:spcPct val="83000"/>
              </a:lnSpc>
              <a:spcBef>
                <a:spcPts val="165"/>
              </a:spcBef>
              <a:tabLst/>
            </a:pP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magnitude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3000"/>
              </a:lnSpc>
              <a:tabLst/>
            </a:pP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magnitude</a:t>
            </a:r>
            <a:endParaRPr sz="3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40" name="picture 44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717735" y="1708294"/>
            <a:ext cx="51913" cy="6350"/>
          </a:xfrm>
          <a:prstGeom prst="rect">
            <a:avLst/>
          </a:prstGeom>
        </p:spPr>
      </p:pic>
      <p:pic>
        <p:nvPicPr>
          <p:cNvPr id="442" name="picture 44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704066" y="1728775"/>
            <a:ext cx="79250" cy="102962"/>
          </a:xfrm>
          <a:prstGeom prst="rect">
            <a:avLst/>
          </a:prstGeom>
        </p:spPr>
      </p:pic>
      <p:sp>
        <p:nvSpPr>
          <p:cNvPr id="444" name="path 444"/>
          <p:cNvSpPr/>
          <p:nvPr/>
        </p:nvSpPr>
        <p:spPr>
          <a:xfrm>
            <a:off x="1475030" y="1552007"/>
            <a:ext cx="537323" cy="424829"/>
          </a:xfrm>
          <a:custGeom>
            <a:avLst/>
            <a:gdLst/>
            <a:ahLst/>
            <a:cxnLst/>
            <a:rect l="0" t="0" r="0" b="0"/>
            <a:pathLst>
              <a:path w="846" h="669">
                <a:moveTo>
                  <a:pt x="10" y="10"/>
                </a:moveTo>
                <a:lnTo>
                  <a:pt x="423" y="343"/>
                </a:lnTo>
                <a:lnTo>
                  <a:pt x="835" y="658"/>
                </a:lnTo>
              </a:path>
            </a:pathLst>
          </a:custGeom>
          <a:noFill/>
          <a:ln w="12978" cap="sq">
            <a:solidFill>
              <a:srgbClr val="2E86A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6" name="textbox 446"/>
          <p:cNvSpPr/>
          <p:nvPr/>
        </p:nvSpPr>
        <p:spPr>
          <a:xfrm>
            <a:off x="3171449" y="2700880"/>
            <a:ext cx="1631950" cy="140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0225" indent="-517525" algn="l" rtl="0" eaLnBrk="0">
              <a:lnSpc>
                <a:spcPct val="107000"/>
              </a:lnSpc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                    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5                     10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15                    20                    25                    30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Missing Data Rate</a:t>
            </a:r>
            <a:r>
              <a:rPr sz="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(%)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48" name="textbox 448"/>
          <p:cNvSpPr/>
          <p:nvPr/>
        </p:nvSpPr>
        <p:spPr>
          <a:xfrm>
            <a:off x="5146249" y="2700880"/>
            <a:ext cx="1631950" cy="1390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03250" indent="-591184" algn="l" rtl="0" eaLnBrk="0">
              <a:lnSpc>
                <a:spcPct val="106000"/>
              </a:lnSpc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0                           2         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             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Outlier Rate </a:t>
            </a:r>
            <a:r>
              <a:rPr sz="4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(%)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0" name="textbox 450"/>
          <p:cNvSpPr/>
          <p:nvPr/>
        </p:nvSpPr>
        <p:spPr>
          <a:xfrm>
            <a:off x="1196648" y="2700880"/>
            <a:ext cx="1631950" cy="1390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5134" indent="-433069" algn="l" rtl="0" eaLnBrk="0">
              <a:lnSpc>
                <a:spcPct val="106000"/>
              </a:lnSpc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                    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5                     10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15                    20                    25                    30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Noise Level (% of feature</a:t>
            </a:r>
            <a:r>
              <a:rPr sz="4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std)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2" name="textbox 452"/>
          <p:cNvSpPr/>
          <p:nvPr/>
        </p:nvSpPr>
        <p:spPr>
          <a:xfrm>
            <a:off x="4961174" y="1236255"/>
            <a:ext cx="106045" cy="1470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0.47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2000"/>
              </a:lnSpc>
              <a:spcBef>
                <a:spcPts val="976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0.46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2000"/>
              </a:lnSpc>
              <a:spcBef>
                <a:spcPts val="976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0.45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2000"/>
              </a:lnSpc>
              <a:spcBef>
                <a:spcPts val="976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0.44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2000"/>
              </a:lnSpc>
              <a:spcBef>
                <a:spcPts val="976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0.43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2000"/>
              </a:lnSpc>
              <a:spcBef>
                <a:spcPts val="976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0.42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2000"/>
              </a:lnSpc>
              <a:spcBef>
                <a:spcPts val="976"/>
              </a:spcBef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0.41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2000"/>
              </a:lnSpc>
              <a:spcBef>
                <a:spcPts val="976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0.40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2000"/>
              </a:lnSpc>
              <a:spcBef>
                <a:spcPts val="976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0.39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spcBef>
                <a:spcPts val="7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0.38</a:t>
            </a:r>
            <a:endParaRPr sz="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4" name="textbox 454"/>
          <p:cNvSpPr/>
          <p:nvPr/>
        </p:nvSpPr>
        <p:spPr>
          <a:xfrm>
            <a:off x="2986374" y="1330393"/>
            <a:ext cx="106045" cy="1376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0.46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2000"/>
              </a:lnSpc>
              <a:spcBef>
                <a:spcPts val="1223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0.44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2000"/>
              </a:lnSpc>
              <a:spcBef>
                <a:spcPts val="1223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0.42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2000"/>
              </a:lnSpc>
              <a:spcBef>
                <a:spcPts val="1223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0.40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2000"/>
              </a:lnSpc>
              <a:spcBef>
                <a:spcPts val="1223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0.38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2000"/>
              </a:lnSpc>
              <a:spcBef>
                <a:spcPts val="1223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0.36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2000"/>
              </a:lnSpc>
              <a:spcBef>
                <a:spcPts val="1223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0.34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5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0.32</a:t>
            </a:r>
            <a:endParaRPr sz="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6" name="textbox 456"/>
          <p:cNvSpPr/>
          <p:nvPr/>
        </p:nvSpPr>
        <p:spPr>
          <a:xfrm>
            <a:off x="1011573" y="1353928"/>
            <a:ext cx="106045" cy="1235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0.46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spcBef>
                <a:spcPts val="94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0.44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spcBef>
                <a:spcPts val="94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0.42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spcBef>
                <a:spcPts val="94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0.40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spcBef>
                <a:spcPts val="94"/>
              </a:spcBef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0.38</a:t>
            </a:r>
            <a:endParaRPr sz="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83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0.36</a:t>
            </a:r>
            <a:endParaRPr sz="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8" name="textbox 458"/>
          <p:cNvSpPr/>
          <p:nvPr/>
        </p:nvSpPr>
        <p:spPr>
          <a:xfrm>
            <a:off x="3177070" y="964331"/>
            <a:ext cx="1419860" cy="90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5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Ridge Regression: Noise Robustness</a:t>
            </a:r>
            <a:r>
              <a:rPr sz="5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5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</a:t>
            </a:r>
            <a:r>
              <a:rPr sz="5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</a:t>
            </a:r>
            <a:endParaRPr sz="5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60" name="picture 46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2242080" y="2226050"/>
            <a:ext cx="51913" cy="6350"/>
          </a:xfrm>
          <a:prstGeom prst="rect">
            <a:avLst/>
          </a:prstGeom>
        </p:spPr>
      </p:pic>
      <p:sp>
        <p:nvSpPr>
          <p:cNvPr id="462" name="textbox 462"/>
          <p:cNvSpPr/>
          <p:nvPr/>
        </p:nvSpPr>
        <p:spPr>
          <a:xfrm>
            <a:off x="2216634" y="2069089"/>
            <a:ext cx="104139" cy="101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700" kern="0" spc="30" dirty="0">
                <a:solidFill>
                  <a:srgbClr val="008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★</a:t>
            </a:r>
            <a:endParaRPr sz="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4" name="path 464"/>
          <p:cNvSpPr/>
          <p:nvPr/>
        </p:nvSpPr>
        <p:spPr>
          <a:xfrm>
            <a:off x="2261548" y="2116832"/>
            <a:ext cx="275151" cy="213020"/>
          </a:xfrm>
          <a:custGeom>
            <a:avLst/>
            <a:gdLst/>
            <a:ahLst/>
            <a:cxnLst/>
            <a:rect l="0" t="0" r="0" b="0"/>
            <a:pathLst>
              <a:path w="433" h="335">
                <a:moveTo>
                  <a:pt x="10" y="10"/>
                </a:moveTo>
                <a:lnTo>
                  <a:pt x="423" y="325"/>
                </a:lnTo>
              </a:path>
            </a:pathLst>
          </a:custGeom>
          <a:noFill/>
          <a:ln w="12978" cap="sq">
            <a:solidFill>
              <a:srgbClr val="2E86A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66" name="picture 46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766425" y="2343722"/>
            <a:ext cx="51913" cy="6350"/>
          </a:xfrm>
          <a:prstGeom prst="rect">
            <a:avLst/>
          </a:prstGeom>
        </p:spPr>
      </p:pic>
      <p:pic>
        <p:nvPicPr>
          <p:cNvPr id="468" name="picture 46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2504252" y="2449627"/>
            <a:ext cx="51913" cy="6350"/>
          </a:xfrm>
          <a:prstGeom prst="rect">
            <a:avLst/>
          </a:prstGeom>
        </p:spPr>
      </p:pic>
      <p:sp>
        <p:nvSpPr>
          <p:cNvPr id="470" name="path 470"/>
          <p:cNvSpPr/>
          <p:nvPr/>
        </p:nvSpPr>
        <p:spPr>
          <a:xfrm>
            <a:off x="2523720" y="2316874"/>
            <a:ext cx="275150" cy="189486"/>
          </a:xfrm>
          <a:custGeom>
            <a:avLst/>
            <a:gdLst/>
            <a:ahLst/>
            <a:cxnLst/>
            <a:rect l="0" t="0" r="0" b="0"/>
            <a:pathLst>
              <a:path w="433" h="298">
                <a:moveTo>
                  <a:pt x="10" y="10"/>
                </a:moveTo>
                <a:lnTo>
                  <a:pt x="423" y="288"/>
                </a:lnTo>
              </a:path>
            </a:pathLst>
          </a:custGeom>
          <a:noFill/>
          <a:ln w="12978" cap="sq">
            <a:solidFill>
              <a:srgbClr val="2E86A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72" name="picture 47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2242080" y="2014241"/>
            <a:ext cx="51913" cy="6350"/>
          </a:xfrm>
          <a:prstGeom prst="rect">
            <a:avLst/>
          </a:prstGeom>
        </p:spPr>
      </p:pic>
      <p:sp>
        <p:nvSpPr>
          <p:cNvPr id="474" name="path 474"/>
          <p:cNvSpPr/>
          <p:nvPr/>
        </p:nvSpPr>
        <p:spPr>
          <a:xfrm>
            <a:off x="1999375" y="1963858"/>
            <a:ext cx="275151" cy="165951"/>
          </a:xfrm>
          <a:custGeom>
            <a:avLst/>
            <a:gdLst/>
            <a:ahLst/>
            <a:cxnLst/>
            <a:rect l="0" t="0" r="0" b="0"/>
            <a:pathLst>
              <a:path w="433" h="261">
                <a:moveTo>
                  <a:pt x="10" y="10"/>
                </a:moveTo>
                <a:lnTo>
                  <a:pt x="423" y="251"/>
                </a:lnTo>
              </a:path>
            </a:pathLst>
          </a:custGeom>
          <a:noFill/>
          <a:ln w="12978" cap="sq">
            <a:solidFill>
              <a:srgbClr val="2E86A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6" name="textbox 476"/>
          <p:cNvSpPr/>
          <p:nvPr/>
        </p:nvSpPr>
        <p:spPr>
          <a:xfrm>
            <a:off x="3105287" y="1178231"/>
            <a:ext cx="789940" cy="81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(B) Missing Data Robustn</a:t>
            </a:r>
            <a:r>
              <a:rPr sz="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ess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78" name="textbox 478"/>
          <p:cNvSpPr/>
          <p:nvPr/>
        </p:nvSpPr>
        <p:spPr>
          <a:xfrm>
            <a:off x="1130487" y="1178231"/>
            <a:ext cx="786130" cy="81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(A) Gaussian Noise </a:t>
            </a:r>
            <a:r>
              <a:rPr sz="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Injection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0" name="textbox 480"/>
          <p:cNvSpPr/>
          <p:nvPr/>
        </p:nvSpPr>
        <p:spPr>
          <a:xfrm>
            <a:off x="5080088" y="1178231"/>
            <a:ext cx="572134" cy="81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(C) Outlier Injection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2" name="path 482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4" name="path 484"/>
          <p:cNvSpPr/>
          <p:nvPr/>
        </p:nvSpPr>
        <p:spPr>
          <a:xfrm>
            <a:off x="1212857" y="1476126"/>
            <a:ext cx="12978" cy="47069"/>
          </a:xfrm>
          <a:custGeom>
            <a:avLst/>
            <a:gdLst/>
            <a:ahLst/>
            <a:cxnLst/>
            <a:rect l="0" t="0" r="0" b="0"/>
            <a:pathLst>
              <a:path w="20" h="74">
                <a:moveTo>
                  <a:pt x="10" y="74"/>
                </a:moveTo>
                <a:lnTo>
                  <a:pt x="10" y="0"/>
                </a:lnTo>
              </a:path>
            </a:pathLst>
          </a:custGeom>
          <a:noFill/>
          <a:ln w="12978" cap="flat">
            <a:solidFill>
              <a:srgbClr val="2E86A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86" name="picture 48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1193390" y="1520020"/>
            <a:ext cx="51913" cy="6350"/>
          </a:xfrm>
          <a:prstGeom prst="rect">
            <a:avLst/>
          </a:prstGeom>
        </p:spPr>
      </p:pic>
      <p:sp>
        <p:nvSpPr>
          <p:cNvPr id="488" name="path 488"/>
          <p:cNvSpPr/>
          <p:nvPr/>
        </p:nvSpPr>
        <p:spPr>
          <a:xfrm>
            <a:off x="1212857" y="1493171"/>
            <a:ext cx="275151" cy="71814"/>
          </a:xfrm>
          <a:custGeom>
            <a:avLst/>
            <a:gdLst/>
            <a:ahLst/>
            <a:cxnLst/>
            <a:rect l="0" t="0" r="0" b="0"/>
            <a:pathLst>
              <a:path w="433" h="113">
                <a:moveTo>
                  <a:pt x="10" y="10"/>
                </a:moveTo>
                <a:lnTo>
                  <a:pt x="423" y="102"/>
                </a:lnTo>
              </a:path>
            </a:pathLst>
          </a:custGeom>
          <a:noFill/>
          <a:ln w="12978" cap="sq">
            <a:solidFill>
              <a:srgbClr val="2E86A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90" name="picture 49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1979907" y="1885381"/>
            <a:ext cx="51913" cy="169932"/>
          </a:xfrm>
          <a:prstGeom prst="rect">
            <a:avLst/>
          </a:prstGeom>
        </p:spPr>
      </p:pic>
      <p:sp>
        <p:nvSpPr>
          <p:cNvPr id="492" name="textbox 492"/>
          <p:cNvSpPr/>
          <p:nvPr/>
        </p:nvSpPr>
        <p:spPr>
          <a:xfrm rot="16200000">
            <a:off x="854502" y="1933777"/>
            <a:ext cx="232409" cy="72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4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R2</a:t>
            </a:r>
            <a:r>
              <a:rPr sz="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94" name="textbox 494"/>
          <p:cNvSpPr/>
          <p:nvPr/>
        </p:nvSpPr>
        <p:spPr>
          <a:xfrm rot="16200000">
            <a:off x="2829303" y="1933777"/>
            <a:ext cx="232409" cy="72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4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R2</a:t>
            </a:r>
            <a:r>
              <a:rPr sz="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96" name="textbox 496"/>
          <p:cNvSpPr/>
          <p:nvPr/>
        </p:nvSpPr>
        <p:spPr>
          <a:xfrm rot="16200000">
            <a:off x="4804104" y="1933777"/>
            <a:ext cx="232409" cy="72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4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R2</a:t>
            </a:r>
            <a:r>
              <a:rPr sz="4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98" name="textbox 498"/>
          <p:cNvSpPr/>
          <p:nvPr/>
        </p:nvSpPr>
        <p:spPr>
          <a:xfrm>
            <a:off x="1167717" y="2443710"/>
            <a:ext cx="104775" cy="101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700" kern="0" spc="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★</a:t>
            </a:r>
            <a:endParaRPr sz="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0" name="textbox 500"/>
          <p:cNvSpPr/>
          <p:nvPr/>
        </p:nvSpPr>
        <p:spPr>
          <a:xfrm>
            <a:off x="1167729" y="2502469"/>
            <a:ext cx="104775" cy="101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700" kern="0" spc="30" dirty="0">
                <a:solidFill>
                  <a:srgbClr val="008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★</a:t>
            </a:r>
            <a:endParaRPr sz="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02" name="picture 50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1455562" y="1520599"/>
            <a:ext cx="51913" cy="75794"/>
          </a:xfrm>
          <a:prstGeom prst="rect">
            <a:avLst/>
          </a:prstGeom>
        </p:spPr>
      </p:pic>
      <p:sp>
        <p:nvSpPr>
          <p:cNvPr id="504" name="path 504"/>
          <p:cNvSpPr/>
          <p:nvPr/>
        </p:nvSpPr>
        <p:spPr>
          <a:xfrm>
            <a:off x="1169767" y="2653017"/>
            <a:ext cx="521522" cy="5191"/>
          </a:xfrm>
          <a:custGeom>
            <a:avLst/>
            <a:gdLst/>
            <a:ahLst/>
            <a:cxnLst/>
            <a:rect l="0" t="0" r="0" b="0"/>
            <a:pathLst>
              <a:path w="821" h="8">
                <a:moveTo>
                  <a:pt x="0" y="4"/>
                </a:moveTo>
                <a:lnTo>
                  <a:pt x="821" y="4"/>
                </a:lnTo>
              </a:path>
            </a:pathLst>
          </a:custGeom>
          <a:noFill/>
          <a:ln w="5191" cap="flat">
            <a:solidFill>
              <a:srgbClr val="CCCCCC">
                <a:alpha val="94901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6" name="rect 506"/>
          <p:cNvSpPr/>
          <p:nvPr/>
        </p:nvSpPr>
        <p:spPr>
          <a:xfrm>
            <a:off x="1193390" y="1473530"/>
            <a:ext cx="51913" cy="5191"/>
          </a:xfrm>
          <a:prstGeom prst="rect">
            <a:avLst/>
          </a:prstGeom>
          <a:solidFill>
            <a:srgbClr val="2E86AB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08" name="picture 50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1195986" y="1476299"/>
            <a:ext cx="46722" cy="46722"/>
          </a:xfrm>
          <a:prstGeom prst="rect">
            <a:avLst/>
          </a:prstGeom>
        </p:spPr>
      </p:pic>
      <p:pic>
        <p:nvPicPr>
          <p:cNvPr id="510" name="picture 51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2769021" y="2476510"/>
            <a:ext cx="46722" cy="46722"/>
          </a:xfrm>
          <a:prstGeom prst="rect">
            <a:avLst/>
          </a:prstGeom>
        </p:spPr>
      </p:pic>
      <p:pic>
        <p:nvPicPr>
          <p:cNvPr id="512" name="picture 51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2244675" y="2099960"/>
            <a:ext cx="46722" cy="46722"/>
          </a:xfrm>
          <a:prstGeom prst="rect">
            <a:avLst/>
          </a:prstGeom>
        </p:spPr>
      </p:pic>
      <p:pic>
        <p:nvPicPr>
          <p:cNvPr id="514" name="picture 51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2506848" y="2300002"/>
            <a:ext cx="46722" cy="46722"/>
          </a:xfrm>
          <a:prstGeom prst="rect">
            <a:avLst/>
          </a:prstGeom>
        </p:spPr>
      </p:pic>
      <p:sp>
        <p:nvSpPr>
          <p:cNvPr id="516" name="path 516"/>
          <p:cNvSpPr/>
          <p:nvPr/>
        </p:nvSpPr>
        <p:spPr>
          <a:xfrm>
            <a:off x="1158865" y="2475099"/>
            <a:ext cx="5191" cy="172207"/>
          </a:xfrm>
          <a:custGeom>
            <a:avLst/>
            <a:gdLst/>
            <a:ahLst/>
            <a:cxnLst/>
            <a:rect l="0" t="0" r="0" b="0"/>
            <a:pathLst>
              <a:path w="8" h="271">
                <a:moveTo>
                  <a:pt x="4" y="0"/>
                </a:moveTo>
                <a:lnTo>
                  <a:pt x="4" y="271"/>
                </a:lnTo>
              </a:path>
            </a:pathLst>
          </a:custGeom>
          <a:noFill/>
          <a:ln w="5191" cap="flat">
            <a:solidFill>
              <a:srgbClr val="CCCCCC">
                <a:alpha val="94901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18" name="picture 51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2504252" y="2190749"/>
            <a:ext cx="51913" cy="6350"/>
          </a:xfrm>
          <a:prstGeom prst="rect">
            <a:avLst/>
          </a:prstGeom>
        </p:spPr>
      </p:pic>
      <p:pic>
        <p:nvPicPr>
          <p:cNvPr id="520" name="picture 52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2766425" y="2649669"/>
            <a:ext cx="51913" cy="6350"/>
          </a:xfrm>
          <a:prstGeom prst="rect">
            <a:avLst/>
          </a:prstGeom>
        </p:spPr>
      </p:pic>
      <p:sp>
        <p:nvSpPr>
          <p:cNvPr id="522" name="rect 522"/>
          <p:cNvSpPr/>
          <p:nvPr/>
        </p:nvSpPr>
        <p:spPr>
          <a:xfrm>
            <a:off x="1158865" y="2644711"/>
            <a:ext cx="13497" cy="13497"/>
          </a:xfrm>
          <a:prstGeom prst="rect">
            <a:avLst/>
          </a:prstGeom>
          <a:solidFill>
            <a:srgbClr val="CCCCCC">
              <a:alpha val="9490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textbox 524"/>
          <p:cNvSpPr/>
          <p:nvPr/>
        </p:nvSpPr>
        <p:spPr>
          <a:xfrm>
            <a:off x="902459" y="938547"/>
            <a:ext cx="5969000" cy="8187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4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performance saturation at 80% training data and broad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optimal param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eter regions.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3495" algn="l" rtl="0" eaLnBrk="0">
              <a:lnSpc>
                <a:spcPct val="70000"/>
              </a:lnSpc>
              <a:spcBef>
                <a:spcPts val="1121"/>
              </a:spcBef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10.2    Weaknesses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3970" indent="222884" algn="l" rtl="0" eaLnBrk="0">
              <a:lnSpc>
                <a:spcPct val="99000"/>
              </a:lnSpc>
              <a:spcBef>
                <a:spcPts val="1250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W1:</a:t>
            </a:r>
            <a:r>
              <a:rPr sz="1100" b="1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Unobserved ground truth.</a:t>
            </a:r>
            <a:r>
              <a:rPr sz="1100" b="1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 votes remain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latent;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observed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mismatches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could refl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ect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 error or production interference beyond our an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alytical scope.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indent="224790" algn="l" rtl="0" eaLnBrk="0">
              <a:lnSpc>
                <a:spcPct val="99000"/>
              </a:lnSpc>
              <a:spcBef>
                <a:spcPts val="998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W2:  Correlation</a:t>
            </a:r>
            <a:r>
              <a:rPr sz="1100" b="1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vs.</a:t>
            </a:r>
            <a:r>
              <a:rPr sz="1100" b="1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causation. 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Partner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quali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ty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correlation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may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endogenous,  as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better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partners may be strategically assigned to promising celebrities rathe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 than randomly allocated.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9050" indent="217804" algn="l" rtl="0" eaLnBrk="0">
              <a:lnSpc>
                <a:spcPct val="112000"/>
              </a:lnSpc>
              <a:spcBef>
                <a:spcPts val="681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W3:  Single-show</a:t>
            </a:r>
            <a:r>
              <a:rPr sz="1100" b="1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scope.</a:t>
            </a:r>
            <a:r>
              <a:rPr sz="1100" b="1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DWTS-specific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findings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may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not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neralize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competitions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substantially different voting structure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 or audience demographics.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9050" indent="217804" algn="l" rtl="0" eaLnBrk="0">
              <a:lnSpc>
                <a:spcPct val="99000"/>
              </a:lnSpc>
              <a:spcBef>
                <a:spcPts val="972"/>
              </a:spcBef>
              <a:tabLst/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W4:</a:t>
            </a:r>
            <a:r>
              <a:rPr sz="1100" b="1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Temporal</a:t>
            </a:r>
            <a:r>
              <a:rPr sz="1100" b="1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assumptions.</a:t>
            </a:r>
            <a:r>
              <a:rPr sz="1100" b="1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assume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stationary preferences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ross multiple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decades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spite social media evolution[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] potentially altering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fan mobilization mechanisms.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6034" algn="l" rtl="0" eaLnBrk="0">
              <a:lnSpc>
                <a:spcPct val="70000"/>
              </a:lnSpc>
              <a:spcBef>
                <a:spcPts val="1317"/>
              </a:spcBef>
              <a:tabLst/>
            </a:pP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11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Conclusion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2700" indent="224790" algn="l" rtl="0" eaLnBrk="0">
              <a:lnSpc>
                <a:spcPct val="110000"/>
              </a:lnSpc>
              <a:spcBef>
                <a:spcPts val="886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 paper,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establish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analytical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ramework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competition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through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multi-stage process.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Initially, we develop a residual-based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inverse inference model recovering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observed fan votes from</a:t>
            </a:r>
            <a:r>
              <a:rPr sz="1100" kern="0" spc="-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 score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 and eliminations, achieving 85.3% match rate.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Subsequently,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these proxies enable counterfactual rule comparison, preference decomposition via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Twin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andom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Forest,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adaptive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design. 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framework,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demonstrated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robust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across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multi-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ple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competitive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contexts,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allows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uncove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latent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preference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underlying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observable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outcomes.  The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proposed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Adaptive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Weighted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reduces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oversy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by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45%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while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maintaining engagement, providing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 principled resolution to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tension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between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popularity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meritocracy.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7145" algn="l" rtl="0" eaLnBrk="0">
              <a:lnSpc>
                <a:spcPct val="70000"/>
              </a:lnSpc>
              <a:spcBef>
                <a:spcPts val="1298"/>
              </a:spcBef>
              <a:tabLst/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342900" indent="-241934" algn="l" rtl="0" eaLnBrk="0">
              <a:lnSpc>
                <a:spcPct val="110000"/>
              </a:lnSpc>
              <a:spcBef>
                <a:spcPts val="932"/>
              </a:spcBef>
              <a:tabLst/>
            </a:pP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[1]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Hoerl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A. E., &amp;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Kennard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R. W. (1970).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Ridge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Regression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Biased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Estimation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Nonorthog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onal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Problems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Technometrics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12(1), 55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–67.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00964" algn="l" rtl="0" eaLnBrk="0">
              <a:lnSpc>
                <a:spcPts val="1440"/>
              </a:lnSpc>
              <a:spcBef>
                <a:spcPts val="849"/>
              </a:spcBef>
              <a:tabLst/>
            </a:pP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[2]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Breiman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L. (2001).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Random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Forests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Machine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Learning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45(1), 5–32.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340995" indent="-240029" algn="l" rtl="0" eaLnBrk="0">
              <a:lnSpc>
                <a:spcPct val="107000"/>
              </a:lnSpc>
              <a:spcBef>
                <a:spcPts val="888"/>
              </a:spcBef>
              <a:tabLst/>
            </a:pP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[3]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Lundberg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S. M., &amp;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S.-I. (2017).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Unified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Approach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Interpreting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Predictions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Advances in Neural Information Processing Sys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tems.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339090" indent="-238125" algn="l" rtl="0" eaLnBrk="0">
              <a:lnSpc>
                <a:spcPct val="110000"/>
              </a:lnSpc>
              <a:spcBef>
                <a:spcPts val="938"/>
              </a:spcBef>
              <a:tabLst/>
            </a:pP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[4]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Lundberg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S. M.,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Erion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G.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G.,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&amp;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S.-I.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(2018).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Consistent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Individualized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Attri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bution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Tree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Ensembles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arXiv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preprint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arXiv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:1802.038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88.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340995" indent="-240029" algn="l" rtl="0" eaLnBrk="0">
              <a:lnSpc>
                <a:spcPct val="108000"/>
              </a:lnSpc>
              <a:spcBef>
                <a:spcPts val="853"/>
              </a:spcBef>
              <a:tabLst/>
            </a:pP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[5]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Cai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Q.,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Zhang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Y.,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Liu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H.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(2022).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Box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Office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Forecast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Based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Random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est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Ne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ural Network. Proceedings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the International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Conference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Machine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Learning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Applications.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00964" algn="l" rtl="0" eaLnBrk="0">
              <a:lnSpc>
                <a:spcPts val="1440"/>
              </a:lnSpc>
              <a:spcBef>
                <a:spcPts val="926"/>
              </a:spcBef>
              <a:tabLst/>
            </a:pP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[6]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Arrow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K. J. (1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951).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Social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Choice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Individual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Values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Yale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University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Press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40359" indent="-239395" algn="l" rtl="0" eaLnBrk="0">
              <a:lnSpc>
                <a:spcPct val="110000"/>
              </a:lnSpc>
              <a:spcBef>
                <a:spcPts val="5"/>
              </a:spcBef>
              <a:tabLst/>
            </a:pP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[7]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Kousha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K.,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Thelwall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M.,</a:t>
            </a:r>
            <a:r>
              <a:rPr sz="11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Abdoli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M.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(2012).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Role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Online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Videos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Research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Communication: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Content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YouTube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Videos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Cited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Acad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emic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Publications.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Journal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American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Society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Information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Science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Technology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63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(9),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1710–1727.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6" name="textbox 526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Page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25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528" name="path 528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textbox 530"/>
          <p:cNvSpPr/>
          <p:nvPr/>
        </p:nvSpPr>
        <p:spPr>
          <a:xfrm>
            <a:off x="902459" y="927543"/>
            <a:ext cx="5975984" cy="7860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0020" algn="l" rtl="0" eaLnBrk="0">
              <a:lnSpc>
                <a:spcPct val="78000"/>
              </a:lnSpc>
              <a:tabLst/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Letter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Organizing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Committee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Dancing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Stars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2000"/>
              </a:lnSpc>
              <a:spcBef>
                <a:spcPts val="341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Dear Dancing with th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 Stars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Team,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7145" indent="219709" algn="l" rtl="0" eaLnBrk="0">
              <a:lnSpc>
                <a:spcPct val="110000"/>
              </a:lnSpc>
              <a:spcBef>
                <a:spcPts val="791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 hope you are doing well.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I’m writing as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wer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who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truly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enjoys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show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often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thinks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about how its voting system shapes both the competitio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 and the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audience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experience.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wanted to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share two connected thoughts that came up while watching 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he program.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indent="227329" algn="l" rtl="0" eaLnBrk="0">
              <a:lnSpc>
                <a:spcPct val="110000"/>
              </a:lnSpc>
              <a:spcBef>
                <a:spcPts val="642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thought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about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rule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itself.  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many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performance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shows,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results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decided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either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by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ranking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methods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or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by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fixed-percentage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combinations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judge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s’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audience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votes.  Both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feel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reasonable,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but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neither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fully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adapts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how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naturally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develops.  Based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 this, I w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ould like to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suggest a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call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Adaptive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Weighted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Voting,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or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AWV,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method.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Under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idea,</a:t>
            </a:r>
            <a:r>
              <a:rPr sz="1100" kern="0" spc="2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audience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votes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judges’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scores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carry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equal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import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ance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beginning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season, which helps attract attention, encourage participation,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build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emotional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connection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viewers.  As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progresses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performances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become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more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technical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ly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demanding,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weight of the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judges’ scores gradually increases, helping ensure competi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tive fairness when the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stakes are higher.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 weighting adjustment is not arbitrary,it is a scientifically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sound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reason-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able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judging mechanism developed through dynamic consideration of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both viewership ratings and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professional standards, aligned with the progression of the co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mpetition schedule.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334" indent="223520" algn="l" rtl="0" eaLnBrk="0">
              <a:lnSpc>
                <a:spcPct val="107000"/>
              </a:lnSpc>
              <a:spcBef>
                <a:spcPts val="948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other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thought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about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audience preferenc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itself.  From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observation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data,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influenced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by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many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factors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beyond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dance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performed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stage.  Among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these,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age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appears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 be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the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most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inf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luential.  Younger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contestants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often receive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stronger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more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active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support, especially on digital voting platforms, simply bec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ause their fan bases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larger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more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engaged.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 is completely understandable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not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 criticism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the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audienc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e,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but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it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does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mean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 popularity-related factors can sometimes outweigh performance qu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ality, particularly for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older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contestants who may deliver technically refined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or emotionally expressive dances.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970" indent="222884" algn="l" rtl="0" eaLnBrk="0">
              <a:lnSpc>
                <a:spcPct val="110000"/>
              </a:lnSpc>
              <a:spcBef>
                <a:spcPts val="686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These two ideas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are closely linked.  Because fan preference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not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pure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ly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performance-driven,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adaptive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like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AWV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may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help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balance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nthusiasm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fairness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throughout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season.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would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also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like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mention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propos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not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only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based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personal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observation,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but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mathematical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modeling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have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developed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study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behavior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outcome stability under diff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erent rule designs.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indent="224790" algn="l" rtl="0" eaLnBrk="0">
              <a:lnSpc>
                <a:spcPct val="110000"/>
              </a:lnSpc>
              <a:spcBef>
                <a:spcPts val="693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 understand that designing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implementing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competition rules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involves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many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pract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ical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siderations, an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 my intention is simply to share a constructive perspective from a viewer who cares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deeply about both fairness and audience engagement.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Thank you very much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 takin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time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read this letter, and for continuing to creat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 such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 inspiring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enjoyable program.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974590" algn="l" rtl="0" eaLnBrk="0">
              <a:lnSpc>
                <a:spcPct val="82000"/>
              </a:lnSpc>
              <a:spcBef>
                <a:spcPts val="339"/>
              </a:spcBef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Sincerely yours,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957445" algn="l" rtl="0" eaLnBrk="0">
              <a:lnSpc>
                <a:spcPct val="70000"/>
              </a:lnSpc>
              <a:spcBef>
                <a:spcPts val="4"/>
              </a:spcBef>
              <a:tabLst/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11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#2631703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2" name="textbox 532"/>
          <p:cNvSpPr/>
          <p:nvPr/>
        </p:nvSpPr>
        <p:spPr>
          <a:xfrm>
            <a:off x="904609" y="425957"/>
            <a:ext cx="596645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5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Page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26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2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534" name="path 534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textbox 536"/>
          <p:cNvSpPr/>
          <p:nvPr/>
        </p:nvSpPr>
        <p:spPr>
          <a:xfrm>
            <a:off x="906254" y="946018"/>
            <a:ext cx="5965190" cy="4165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41854" algn="l" rtl="0" eaLnBrk="0">
              <a:lnSpc>
                <a:spcPct val="81000"/>
              </a:lnSpc>
              <a:tabLst/>
            </a:pPr>
            <a:r>
              <a:rPr sz="1400" b="1" u="sng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Report</a:t>
            </a:r>
            <a:r>
              <a:rPr sz="1400" b="1" u="sng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u="sng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400" b="1" u="sng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u="sng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</a:t>
            </a:r>
            <a:r>
              <a:rPr sz="1400" b="1" u="sng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u="sng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400" b="1" u="sng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u="sng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ts val="1440"/>
              </a:lnSpc>
              <a:spcBef>
                <a:spcPts val="331"/>
              </a:spcBef>
              <a:tabLst/>
            </a:pP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Claude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Sonnet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4.5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(2026-01-31)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39395" algn="l" rtl="0" eaLnBrk="0">
              <a:lnSpc>
                <a:spcPct val="82000"/>
              </a:lnSpc>
              <a:spcBef>
                <a:spcPts val="298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Query: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what is Ridge regression,and what kind of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problem it 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olved,answer this briefly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36220" indent="2540" algn="l" rtl="0" eaLnBrk="0">
              <a:lnSpc>
                <a:spcPct val="104000"/>
              </a:lnSpc>
              <a:spcBef>
                <a:spcPts val="378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Output: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Ridge regression is a method that adds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an L2 penalty term to the linear regression loss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function;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it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shrin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large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coefficients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 reduce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overfitting,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address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multicollinearity,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enhance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 stability with high-dime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nsional or noisy data, and trade a small amount of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bias for lower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variance and better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generalization ability.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ts val="1440"/>
              </a:lnSpc>
              <a:spcBef>
                <a:spcPts val="974"/>
              </a:spcBef>
              <a:tabLst/>
            </a:pP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Claude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Sonnet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4.5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26-01-31)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39395" algn="l" rtl="0" eaLnBrk="0">
              <a:lnSpc>
                <a:spcPct val="82000"/>
              </a:lnSpc>
              <a:spcBef>
                <a:spcPts val="298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Query: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gave me a python code sample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random f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orest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35584" indent="3175" algn="l" rtl="0" eaLnBrk="0">
              <a:lnSpc>
                <a:spcPct val="109000"/>
              </a:lnSpc>
              <a:spcBef>
                <a:spcPts val="348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Output:  Random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Forest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ensemble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machine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learning</a:t>
            </a:r>
            <a:r>
              <a:rPr sz="11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algorithm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that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mbines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multiple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decision trees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 improve prediction accuracy and reduce overfitting. It works by training many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decision trees on random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subsets of the data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then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avera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ging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results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(for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regression)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using majority voting (for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classification). Each tree in the forest is trained on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different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subset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the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random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selection,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making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more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robust</a:t>
            </a:r>
            <a:r>
              <a:rPr sz="11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accurate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than</a:t>
            </a:r>
            <a:r>
              <a:rPr sz="11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1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single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decision tree.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440"/>
              </a:lnSpc>
              <a:spcBef>
                <a:spcPts val="336"/>
              </a:spcBef>
              <a:tabLst/>
            </a:pP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Chat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GPT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5.2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(2026-0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2-01)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236220" algn="l" rtl="0" eaLnBrk="0">
              <a:lnSpc>
                <a:spcPts val="1367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Usage: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Paper w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riting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38125" indent="635" algn="l" rtl="0" eaLnBrk="0">
              <a:lnSpc>
                <a:spcPct val="98000"/>
              </a:lnSpc>
              <a:spcBef>
                <a:spcPts val="1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Output: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Use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ChatGPT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complete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first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draft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the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ter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 polish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some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 the para-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graphs within it.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8" name="textbox 538"/>
          <p:cNvSpPr/>
          <p:nvPr/>
        </p:nvSpPr>
        <p:spPr>
          <a:xfrm>
            <a:off x="904609" y="458066"/>
            <a:ext cx="5966459" cy="156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 2631703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Page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27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540" name="path 540"/>
          <p:cNvSpPr/>
          <p:nvPr/>
        </p:nvSpPr>
        <p:spPr>
          <a:xfrm>
            <a:off x="914400" y="623392"/>
            <a:ext cx="5943600" cy="5053"/>
          </a:xfrm>
          <a:custGeom>
            <a:avLst/>
            <a:gdLst/>
            <a:ahLst/>
            <a:cxnLst/>
            <a:rect l="0" t="0" r="0" b="0"/>
            <a:pathLst>
              <a:path w="9360" h="7">
                <a:moveTo>
                  <a:pt x="0" y="3"/>
                </a:moveTo>
                <a:lnTo>
                  <a:pt x="9360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LaTeX with hyperref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2026-02-02T23:40:48Z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2026-02-02T23:48:11</vt:filetime>
  </property>
</Properties>
</file>